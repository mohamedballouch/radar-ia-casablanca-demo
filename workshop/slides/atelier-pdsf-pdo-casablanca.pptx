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590f94426a4dc1" /><Relationship Type="http://schemas.openxmlformats.org/officeDocument/2006/relationships/extended-properties" Target="/docProps/app.xml" Id="R99b0cd36243545b5" /><Relationship Type="http://schemas.openxmlformats.org/officeDocument/2006/relationships/officeDocument" Target="/ppt/presentation.xml" Id="Rbf393030c4214d03" /></Relationships>
</file>

<file path=ppt/presentation.xml><?xml version="1.0" encoding="utf-8"?>
<p:presentation xmlns:p="http://schemas.openxmlformats.org/presentationml/2006/main">
  <p:sldMasterIdLst>
    <p:sldMasterId xmlns:r="http://schemas.openxmlformats.org/officeDocument/2006/relationships" id="2147483648" r:id="R72b921c8784a44a0"/>
  </p:sldMasterIdLst>
  <p:notesMasterIdLst>
    <p:notesMasterId xmlns:r="http://schemas.openxmlformats.org/officeDocument/2006/relationships" r:id="R0a8c2f6140824b5e"/>
  </p:notesMasterIdLst>
  <p:sldIdLst>
    <p:sldId xmlns:r="http://schemas.openxmlformats.org/officeDocument/2006/relationships" id="256" r:id="R3955c8ab7e5a4168"/>
    <p:sldId xmlns:r="http://schemas.openxmlformats.org/officeDocument/2006/relationships" id="257" r:id="R77fac3df20544efe"/>
    <p:sldId xmlns:r="http://schemas.openxmlformats.org/officeDocument/2006/relationships" id="258" r:id="R61b9d3733b3d4c7c"/>
    <p:sldId xmlns:r="http://schemas.openxmlformats.org/officeDocument/2006/relationships" id="259" r:id="R4eb89c0d96534f49"/>
    <p:sldId xmlns:r="http://schemas.openxmlformats.org/officeDocument/2006/relationships" id="260" r:id="R8c76944ee5774657"/>
    <p:sldId xmlns:r="http://schemas.openxmlformats.org/officeDocument/2006/relationships" id="261" r:id="R49d6fa3f5e9a4be4"/>
    <p:sldId xmlns:r="http://schemas.openxmlformats.org/officeDocument/2006/relationships" id="262" r:id="Rb3c21038dcd14a09"/>
    <p:sldId xmlns:r="http://schemas.openxmlformats.org/officeDocument/2006/relationships" id="263" r:id="Rd2d3d1f08df649b9"/>
    <p:sldId xmlns:r="http://schemas.openxmlformats.org/officeDocument/2006/relationships" id="264" r:id="R01bfaae596d04ea0"/>
    <p:sldId xmlns:r="http://schemas.openxmlformats.org/officeDocument/2006/relationships" id="265" r:id="R9a0e9da2b7234356"/>
    <p:sldId xmlns:r="http://schemas.openxmlformats.org/officeDocument/2006/relationships" id="266" r:id="Rd4ddeb63beb644ac"/>
    <p:sldId xmlns:r="http://schemas.openxmlformats.org/officeDocument/2006/relationships" id="267" r:id="Rd01208b1ca9c4b43"/>
    <p:sldId xmlns:r="http://schemas.openxmlformats.org/officeDocument/2006/relationships" id="268" r:id="Rcff05c5e119740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a21c44fdc64afd" /><Relationship Type="http://schemas.openxmlformats.org/officeDocument/2006/relationships/slideMaster" Target="/ppt/slideMasters/slideMaster1.xml" Id="R72b921c8784a44a0" /><Relationship Type="http://schemas.openxmlformats.org/officeDocument/2006/relationships/notesMaster" Target="/ppt/notesMasters/notesMaster1.xml" Id="R0a8c2f6140824b5e" /><Relationship Type="http://schemas.openxmlformats.org/officeDocument/2006/relationships/presProps" Target="/ppt/presProps.xml" Id="R7513a18896904b1e" /><Relationship Type="http://schemas.openxmlformats.org/officeDocument/2006/relationships/tableStyles" Target="/ppt/tableStyles.xml" Id="R7b14dc24d1324385" /><Relationship Type="http://schemas.openxmlformats.org/officeDocument/2006/relationships/slide" Target="/ppt/slides/slide1.xml" Id="R3955c8ab7e5a4168" /><Relationship Type="http://schemas.openxmlformats.org/officeDocument/2006/relationships/slide" Target="/ppt/slides/slide2.xml" Id="R77fac3df20544efe" /><Relationship Type="http://schemas.openxmlformats.org/officeDocument/2006/relationships/slide" Target="/ppt/slides/slide3.xml" Id="R61b9d3733b3d4c7c" /><Relationship Type="http://schemas.openxmlformats.org/officeDocument/2006/relationships/slide" Target="/ppt/slides/slide4.xml" Id="R4eb89c0d96534f49" /><Relationship Type="http://schemas.openxmlformats.org/officeDocument/2006/relationships/slide" Target="/ppt/slides/slide5.xml" Id="R8c76944ee5774657" /><Relationship Type="http://schemas.openxmlformats.org/officeDocument/2006/relationships/slide" Target="/ppt/slides/slide6.xml" Id="R49d6fa3f5e9a4be4" /><Relationship Type="http://schemas.openxmlformats.org/officeDocument/2006/relationships/slide" Target="/ppt/slides/slide7.xml" Id="Rb3c21038dcd14a09" /><Relationship Type="http://schemas.openxmlformats.org/officeDocument/2006/relationships/slide" Target="/ppt/slides/slide8.xml" Id="Rd2d3d1f08df649b9" /><Relationship Type="http://schemas.openxmlformats.org/officeDocument/2006/relationships/slide" Target="/ppt/slides/slide9.xml" Id="R01bfaae596d04ea0" /><Relationship Type="http://schemas.openxmlformats.org/officeDocument/2006/relationships/slide" Target="/ppt/slides/slide10.xml" Id="R9a0e9da2b7234356" /><Relationship Type="http://schemas.openxmlformats.org/officeDocument/2006/relationships/slide" Target="/ppt/slides/slide11.xml" Id="Rd4ddeb63beb644ac" /><Relationship Type="http://schemas.openxmlformats.org/officeDocument/2006/relationships/slide" Target="/ppt/slides/slide12.xml" Id="Rd01208b1ca9c4b43" /><Relationship Type="http://schemas.openxmlformats.org/officeDocument/2006/relationships/slide" Target="/ppt/slides/slide13.xml" Id="Rcff05c5e119740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63f1345c674f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f0b67b30eb41e7" /><Relationship Type="http://schemas.openxmlformats.org/officeDocument/2006/relationships/notesMaster" Target="/ppt/notesMasters/notesMaster1.xml" Id="R43f68f37669845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7a4400cc4a4f61" /><Relationship Type="http://schemas.openxmlformats.org/officeDocument/2006/relationships/notesMaster" Target="/ppt/notesMasters/notesMaster1.xml" Id="R806efa8dcf304d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cddaa2c6a947de" /><Relationship Type="http://schemas.openxmlformats.org/officeDocument/2006/relationships/notesMaster" Target="/ppt/notesMasters/notesMaster1.xml" Id="R1dd8b6be543244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1af6e3f6c344fc" /><Relationship Type="http://schemas.openxmlformats.org/officeDocument/2006/relationships/notesMaster" Target="/ppt/notesMasters/notesMaster1.xml" Id="R3f959cc1d30a49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4186010f0541f4" /><Relationship Type="http://schemas.openxmlformats.org/officeDocument/2006/relationships/notesMaster" Target="/ppt/notesMasters/notesMaster1.xml" Id="Reb4c6d5f84c343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cdc413f2d74dde" /><Relationship Type="http://schemas.openxmlformats.org/officeDocument/2006/relationships/notesMaster" Target="/ppt/notesMasters/notesMaster1.xml" Id="R112a03bfb9b34c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7409fe0b854b3e" /><Relationship Type="http://schemas.openxmlformats.org/officeDocument/2006/relationships/notesMaster" Target="/ppt/notesMasters/notesMaster1.xml" Id="R90c844fad1cf4c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b998affb224772" /><Relationship Type="http://schemas.openxmlformats.org/officeDocument/2006/relationships/notesMaster" Target="/ppt/notesMasters/notesMaster1.xml" Id="Rdacbe7f56dbf4c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6c4dc48e4c446b" /><Relationship Type="http://schemas.openxmlformats.org/officeDocument/2006/relationships/notesMaster" Target="/ppt/notesMasters/notesMaster1.xml" Id="R4859b21ebd344e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73e54ec8af466b" /><Relationship Type="http://schemas.openxmlformats.org/officeDocument/2006/relationships/notesMaster" Target="/ppt/notesMasters/notesMaster1.xml" Id="Rbaa6c562d9e642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bfea51621b4722" /><Relationship Type="http://schemas.openxmlformats.org/officeDocument/2006/relationships/notesMaster" Target="/ppt/notesMasters/notesMaster1.xml" Id="R74d7aa64356b44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a621a2216a454d" /><Relationship Type="http://schemas.openxmlformats.org/officeDocument/2006/relationships/notesMaster" Target="/ppt/notesMasters/notesMaster1.xml" Id="R384d255aa30845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17dbc31e6044eb" /><Relationship Type="http://schemas.openxmlformats.org/officeDocument/2006/relationships/notesMaster" Target="/ppt/notesMasters/notesMaster1.xml" Id="R4144b97be57a45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00–02 min. Ouvrir sur la promesse vérifiable : un besoin simple, un ticket lisible, une exécution dans PDO, puis une revue humaine du résultat. Ne pas présenter PDSF et PDO comme deux noms pour le même produit.</a:t>
            </a:r>
          </a:p>
          <a:p xmlns:a="http://schemas.openxmlformats.org/drawingml/2006/main">
            <a:r>
              <a:t/>
            </a:r>
          </a:p>
          <a:p xmlns:a="http://schemas.openxmlformats.org/drawingml/2006/main">
            <a:r>
              <a:t>Sources :</a:t>
            </a:r>
          </a:p>
          <a:p xmlns:a="http://schemas.openxmlformats.org/drawingml/2006/main">
            <a:r>
              <a:t>- https://github.com/Loulen/prompt-driven-software-factory/blob/main/README.md</a:t>
            </a:r>
          </a:p>
          <a:p xmlns:a="http://schemas.openxmlformats.org/drawingml/2006/main">
            <a:r>
              <a:t>- https://github.com/Loulen/prompt-driven-orchestrator/blob/v1.110.0/docs/features.md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02–06 min. Ouvrir le produit avant de détailler les outils. Demander quel cas l’équipe prioriserait et pourquoi. Les trois scénarios et les scores sont fictifs ; aucun système d’entreprise ni donnée client ne se trouve dans la démonstration. Le score sert à ouvrir une discussion, pas à décider un investissement.</a:t>
            </a:r>
          </a:p>
          <a:p xmlns:a="http://schemas.openxmlformats.org/drawingml/2006/main">
            <a:r>
              <a:t/>
            </a:r>
          </a:p>
          <a:p xmlns:a="http://schemas.openxmlformats.org/drawingml/2006/main">
            <a:r>
              <a:t>Sources :</a:t>
            </a:r>
          </a:p>
          <a:p xmlns:a="http://schemas.openxmlformats.org/drawingml/2006/main">
            <a:r>
              <a:t>- https://github.com/Mohamedballouch/radar-ia-casablanca-demo</a:t>
            </a:r>
          </a:p>
          <a:p xmlns:a="http://schemas.openxmlformats.org/drawingml/2006/main">
            <a:r>
              <a:t>- C:\projects\pdo\atelier-casablanca-2026-10-05\ticket-demo.md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06–08 min. Montrer rapidement le vrai dépôt : AGENTS.md, .agents/skills/, CONTEXT.md et docs/adr/. PDSF est un jeu de skills que l’on installe dans le dépôt. Avec Claude Code, un overlay .claude/skills et CLAUDE.md peut être ajouté. Ne pas dire qu’un skill précis a tourné sans trace d’invocation. /build-factory a deux modes : scaffold et context.</a:t>
            </a:r>
          </a:p>
          <a:p xmlns:a="http://schemas.openxmlformats.org/drawingml/2006/main">
            <a:r>
              <a:t/>
            </a:r>
          </a:p>
          <a:p xmlns:a="http://schemas.openxmlformats.org/drawingml/2006/main">
            <a:r>
              <a:t>Sources :</a:t>
            </a:r>
          </a:p>
          <a:p xmlns:a="http://schemas.openxmlformats.org/drawingml/2006/main">
            <a:r>
              <a:t>- https://github.com/Loulen/prompt-driven-software-factory/blob/main/README.md</a:t>
            </a:r>
          </a:p>
          <a:p xmlns:a="http://schemas.openxmlformats.org/drawingml/2006/main">
            <a:r>
              <a:t>- https://github.com/Loulen/prompt-driven-software-factory/blob/main/docs/INSTALL.md</a:t>
            </a:r>
          </a:p>
          <a:p xmlns:a="http://schemas.openxmlformats.org/drawingml/2006/main">
            <a:r>
              <a:t>- https://github.com/Mohamedballouch/radar-ia-casablanca-demo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08–10 min. Expliquer les deux backlogs. /to-us aide à écrire les User Stories métier ; /grill-with-docs précise le domaine dans CONTEXT.md et les ADR ; /to-spec synthétise ; /to-tickets découpe en tickets techniques. /implement utilise TDD, revue indépendante et agentic-tests quand les capacités du harness le permettent. Le parcours est guidé, sans gate absolue. La conception reste le lieu de la décision humaine.</a:t>
            </a:r>
          </a:p>
          <a:p xmlns:a="http://schemas.openxmlformats.org/drawingml/2006/main">
            <a:r>
              <a:t/>
            </a:r>
          </a:p>
          <a:p xmlns:a="http://schemas.openxmlformats.org/drawingml/2006/main">
            <a:r>
              <a:t>Sources :</a:t>
            </a:r>
          </a:p>
          <a:p xmlns:a="http://schemas.openxmlformats.org/drawingml/2006/main">
            <a:r>
              <a:t>- https://github.com/Loulen/prompt-driven-software-factory/blob/main/README.md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10–14 min. Montrer la vraie issue et lire seulement les critères utiles à une personne métier : la note reflète les modifications, se copie et s’imprime sans les contrôles de saisie, avertit des limites. Le texte de l’issue précise aussi l’accessibilité au clavier et sur mobile, les tests de génération/ex æquo et la mise à jour du README. Le lien ne synchronise pas automatiquement le ticket à PDO ; le nœud Lire le ticket doit utiliser gh.</a:t>
            </a:r>
          </a:p>
          <a:p xmlns:a="http://schemas.openxmlformats.org/drawingml/2006/main">
            <a:r>
              <a:t/>
            </a:r>
          </a:p>
          <a:p xmlns:a="http://schemas.openxmlformats.org/drawingml/2006/main">
            <a:r>
              <a:t>Sources :</a:t>
            </a:r>
          </a:p>
          <a:p xmlns:a="http://schemas.openxmlformats.org/drawingml/2006/main">
            <a:r>
              <a:t>- https://github.com/Mohamedballouch/radar-ia-casablanca-demo/issues/1</a:t>
            </a:r>
          </a:p>
          <a:p xmlns:a="http://schemas.openxmlformats.org/drawingml/2006/main">
            <a:r>
              <a:t>- C:\projects\pdo\atelier-casablanca-2026-10-05\ticket-demo.md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14–16 min. PDO fonctionne ici comme daemon dans Ubuntu. Le pipeline appartient à la bibliothèque d’instance (~/.pdo/pipelines/). Le New Run choisit explicitement un dépôt local, une branche source, un pipeline et un prompt. Agent, Script et Merge répondent à des besoins différents ; le pipeline de cet atelier emploie des Agents. PDO peut fonctionner sans PDSF, et PDSF peut guider un agent sans PDO.</a:t>
            </a:r>
          </a:p>
          <a:p xmlns:a="http://schemas.openxmlformats.org/drawingml/2006/main">
            <a:r>
              <a:t/>
            </a:r>
          </a:p>
          <a:p xmlns:a="http://schemas.openxmlformats.org/drawingml/2006/main">
            <a:r>
              <a:t>Sources :</a:t>
            </a:r>
          </a:p>
          <a:p xmlns:a="http://schemas.openxmlformats.org/drawingml/2006/main">
            <a:r>
              <a:t>- https://github.com/Loulen/prompt-driven-orchestrator/blob/v1.110.0/docs/features.md</a:t>
            </a:r>
          </a:p>
          <a:p xmlns:a="http://schemas.openxmlformats.org/drawingml/2006/main">
            <a:r>
              <a:t>- https://github.com/Mohamedballouch/radar-ia-casablanca-demo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16–19 min. Ouvrir dans PDO le pipeline atelier-radar-ia, puis expliquer les rôles et les sorties attendues. Le YAML préparé contient Start, Lire le ticket, Développer la fonction, Vérifier la fonction, Brief manager, End. Le nœud Vérifier produit un verdict pass/fail en frontmatter ; fail revient à Développer. La boucle est bornée à trois itérations. Le nœud de revue doit examiner code, diff, tests et build ; ce sont des instructions du pipeline, pas encore une preuve que l’exécution a eu lieu.</a:t>
            </a:r>
          </a:p>
          <a:p xmlns:a="http://schemas.openxmlformats.org/drawingml/2006/main">
            <a:r>
              <a:t/>
            </a:r>
          </a:p>
          <a:p xmlns:a="http://schemas.openxmlformats.org/drawingml/2006/main">
            <a:r>
              <a:t>Sources :</a:t>
            </a:r>
          </a:p>
          <a:p xmlns:a="http://schemas.openxmlformats.org/drawingml/2006/main">
            <a:r>
              <a:t>- C:\projects\pdo\atelier-casablanca-2026-10-05\pipeline\atelier-radar-ia.yaml</a:t>
            </a:r>
          </a:p>
          <a:p xmlns:a="http://schemas.openxmlformats.org/drawingml/2006/main">
            <a:r>
              <a:t>- C:\projects\pdo\atelier-casablanca-2026-10-05\pipeline\atelier-radar-ia.prompts\reviewer.md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19–23 min. Dans PDO, lire les cinq choix à voix haute avant de cliquer Launch. Le chemin doit être celui du clone dans Ubuntu, pas un lien GitHub. Confirmer la branche, le pipeline, l’agent et l’issue exacte. Une URL d’issue dans le prompt sert à guider un nœud de lecture ; elle ne crée pas un webhook. Éviter de montrer l’authentification gh ou une clé API en projection.</a:t>
            </a:r>
          </a:p>
          <a:p xmlns:a="http://schemas.openxmlformats.org/drawingml/2006/main">
            <a:r>
              <a:t/>
            </a:r>
          </a:p>
          <a:p xmlns:a="http://schemas.openxmlformats.org/drawingml/2006/main">
            <a:r>
              <a:t>Sources :</a:t>
            </a:r>
          </a:p>
          <a:p xmlns:a="http://schemas.openxmlformats.org/drawingml/2006/main">
            <a:r>
              <a:t>- https://github.com/Mohamedballouch/radar-ia-casablanca-demo</a:t>
            </a:r>
          </a:p>
          <a:p xmlns:a="http://schemas.openxmlformats.org/drawingml/2006/main">
            <a:r>
              <a:t>- https://github.com/Mohamedballouch/radar-ia-casablanca-demo/issues/1</a:t>
            </a:r>
          </a:p>
          <a:p xmlns:a="http://schemas.openxmlformats.org/drawingml/2006/main">
            <a:r>
              <a:t>- https://github.com/Loulen/prompt-driven-orchestrator/blob/v1.110.0/docs/reference/cli.md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23–25 min. Lancer un run une seule fois et noter son ID devant le public. Si l’agent travaille encore, basculer explicitement vers le run déjà terminé et réellement inspecté. Ne jamais dire que la capture d’un formulaire prouve une exécution. Le run préparé doit être ouvert par son ID et son dépôt contrôlé dans Repositories.</a:t>
            </a:r>
          </a:p>
          <a:p xmlns:a="http://schemas.openxmlformats.org/drawingml/2006/main">
            <a:r>
              <a:t/>
            </a:r>
          </a:p>
          <a:p xmlns:a="http://schemas.openxmlformats.org/drawingml/2006/main">
            <a:r>
              <a:t>Sources :</a:t>
            </a:r>
          </a:p>
          <a:p xmlns:a="http://schemas.openxmlformats.org/drawingml/2006/main">
            <a:r>
              <a:t>- http://localhost:5172/runs/20261001-183530-abd2d8d/review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25–33 min. Ouvrir chaque nœud du run terminé. Start : prompt exact. Lire le ticket : issue et critères. Développer : fichiers modifiés et tests déclarés. Vérifier : commandes exécutées, résultats, verdict. Brief manager : texte réellement produit. Dans Repositories, vérifier le dépôt primaire et la branche. Dans Diff, examiner les changements avant toute publication ; YAML conserve la définition utilisée. Un verdict pass n’est pas une garantie sans lecture des preuves. Le run est terminé. La revue a conclu `verdict: pass` après lecture du diff et essais dans Chromium, dont presse-papiers, impression A4, clavier, ex æquo, réinitialisation et affichage mobile. 12 tests sur 12 et build réussis.</a:t>
            </a:r>
          </a:p>
          <a:p xmlns:a="http://schemas.openxmlformats.org/drawingml/2006/main">
            <a:r>
              <a:t/>
            </a:r>
          </a:p>
          <a:p xmlns:a="http://schemas.openxmlformats.org/drawingml/2006/main">
            <a:r>
              <a:t>Sources :</a:t>
            </a:r>
          </a:p>
          <a:p xmlns:a="http://schemas.openxmlformats.org/drawingml/2006/main">
            <a:r>
              <a:t>- http://localhost:5172/runs/20261001-183530-abd2d8d/review</a:t>
            </a:r>
          </a:p>
          <a:p xmlns:a="http://schemas.openxmlformats.org/drawingml/2006/main">
            <a:r>
              <a:t>- C:\projects\pdo\atelier-casablanca-2026-10-05\pipeline\atelier-radar-ia.yaml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33–36 min. Montrer le parcours de recette seulement si la fonction est effectivement présente dans le run vérifié ou dans la branche correspondante. Modifier une valeur, copier la note, vérifier son contenu puis ouvrir l’aperçu impression/PDF. Dire d’où provient cette version : branche du run ou branche publiée. Scores fictifs, pas de connexion aux données de l’entreprise, décision finale humaine.</a:t>
            </a:r>
          </a:p>
          <a:p xmlns:a="http://schemas.openxmlformats.org/drawingml/2006/main">
            <a:r>
              <a:t/>
            </a:r>
          </a:p>
          <a:p xmlns:a="http://schemas.openxmlformats.org/drawingml/2006/main">
            <a:r>
              <a:t>Sources :</a:t>
            </a:r>
          </a:p>
          <a:p xmlns:a="http://schemas.openxmlformats.org/drawingml/2006/main">
            <a:r>
              <a:t>- https://github.com/Mohamedballouch/radar-ia-casablanca-demo/issues/1</a:t>
            </a:r>
          </a:p>
          <a:p xmlns:a="http://schemas.openxmlformats.org/drawingml/2006/main">
            <a:r>
              <a:t>- http://localhost:5172/runs/20261001-183530-abd2d8d/review</a:t>
            </a:r>
          </a:p>
          <a:p xmlns:a="http://schemas.openxmlformats.org/drawingml/2006/main">
            <a:r>
              <a:t>- http://localhost:5174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36–38 min. Rappeler la distinction essentielle. Les prompts du pipeline de démonstration interdisent au reviewer de pousser, d’ouvrir une PR ou de modifier l’issue. Le run travaille dans une branche et un worktree isolés. Après examen du diff, des tests et de l’interface, une personne décide de créer ou non une PR et de clore ou non le ticket. Dans cet atelier, une PR #2 en brouillon a été ouverte manuellement vers develop après la revue. Elle est encore non fusionnée et l’issue #1 reste ouverte.</a:t>
            </a:r>
          </a:p>
          <a:p xmlns:a="http://schemas.openxmlformats.org/drawingml/2006/main">
            <a:r>
              <a:t/>
            </a:r>
          </a:p>
          <a:p xmlns:a="http://schemas.openxmlformats.org/drawingml/2006/main">
            <a:r>
              <a:t>Sources :</a:t>
            </a:r>
          </a:p>
          <a:p xmlns:a="http://schemas.openxmlformats.org/drawingml/2006/main">
            <a:r>
              <a:t>- https://github.com/Loulen/prompt-driven-software-factory/blob/main/README.md</a:t>
            </a:r>
          </a:p>
          <a:p xmlns:a="http://schemas.openxmlformats.org/drawingml/2006/main">
            <a:r>
              <a:t>- https://github.com/Loulen/prompt-driven-orchestrator/blob/v1.110.0/docs/features.md</a:t>
            </a:r>
          </a:p>
          <a:p xmlns:a="http://schemas.openxmlformats.org/drawingml/2006/main">
            <a:r>
              <a:t>- C:\projects\pdo\atelier-casablanca-2026-10-05\pipeline\atelier-radar-ia.prompts\reviewer.md</a:t>
            </a:r>
          </a:p>
          <a:p xmlns:a="http://schemas.openxmlformats.org/drawingml/2006/main">
            <a:r>
              <a:t>- https://github.com/Mohamedballouch/radar-ia-casablanca-demo/pull/2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38–40 min. Prendre deux questions. Proposer un second atelier technique pour installer PDSF sur un autre dépôt ou construire un pipeline PDO adapté à un vrai cas. Les liens sur la diapositive doivent pointer vers les livrables réels, pas vers un emplacement hypothétique. Ne pas afficher de secrets, données clients ou authentification pendant la séance.</a:t>
            </a:r>
          </a:p>
          <a:p xmlns:a="http://schemas.openxmlformats.org/drawingml/2006/main">
            <a:r>
              <a:t/>
            </a:r>
          </a:p>
          <a:p xmlns:a="http://schemas.openxmlformats.org/drawingml/2006/main">
            <a:r>
              <a:t>Sources :</a:t>
            </a:r>
          </a:p>
          <a:p xmlns:a="http://schemas.openxmlformats.org/drawingml/2006/main">
            <a:r>
              <a:t>- https://github.com/Mohamedballouch/radar-ia-casablanca-demo</a:t>
            </a:r>
          </a:p>
          <a:p xmlns:a="http://schemas.openxmlformats.org/drawingml/2006/main">
            <a:r>
              <a:t>- https://github.com/Mohamedballouch/radar-ia-casablanca-demo/issues/1</a:t>
            </a:r>
          </a:p>
          <a:p xmlns:a="http://schemas.openxmlformats.org/drawingml/2006/main">
            <a:r>
              <a:t>- https://raw.githubusercontent.com/Mohamedballouch/radar-ia-casablanca-demo/develop/workshop/videos/demo-radar-ia-produit.mp4</a:t>
            </a:r>
          </a:p>
          <a:p xmlns:a="http://schemas.openxmlformats.org/drawingml/2006/main">
            <a:r>
              <a:t>- https://raw.githubusercontent.com/Mohamedballouch/radar-ia-casablanca-demo/develop/workshop/videos/demo-pdo-run-inspection.mp4</a:t>
            </a:r>
          </a:p>
          <a:p xmlns:a="http://schemas.openxmlformats.org/drawingml/2006/main">
            <a:r>
              <a:t>- https://raw.githubusercontent.com/Mohamedballouch/radar-ia-casablanca-demo/develop/workshop/examples/note-arbitrage-exemple.pdf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9b68ee29d54d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96c4916ee64fa9" /><Relationship Type="http://schemas.openxmlformats.org/officeDocument/2006/relationships/slideLayout" Target="/ppt/slideLayouts/slideLayout1.xml" Id="R2dd68b8e374141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d68b8e374141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112f5aaf954464" /><Relationship Type="http://schemas.openxmlformats.org/officeDocument/2006/relationships/notesSlide" Target="/ppt/notesSlides/notesSlide1.xml" Id="R7d26346119f049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eaca61605e439f" /><Relationship Type="http://schemas.openxmlformats.org/officeDocument/2006/relationships/image" Target="/ppt/media/image.png" Id="R29d9c8d84e534a6d" /><Relationship Type="http://schemas.openxmlformats.org/officeDocument/2006/relationships/notesSlide" Target="/ppt/notesSlides/notesSlide2.xml" Id="R6e0b984efcda4e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e0a1f9ed9f47f0" /><Relationship Type="http://schemas.openxmlformats.org/officeDocument/2006/relationships/notesSlide" Target="/ppt/notesSlides/notesSlide3.xml" Id="Rbf0e79bfb3a148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51924386314cb5" /><Relationship Type="http://schemas.openxmlformats.org/officeDocument/2006/relationships/notesSlide" Target="/ppt/notesSlides/notesSlide4.xml" Id="R766e8146b80b4b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c123cb0fd5476e" /><Relationship Type="http://schemas.openxmlformats.org/officeDocument/2006/relationships/hyperlink" Target="https://github.com/Mohamedballouch/radar-ia-casablanca-demo/issues/1" TargetMode="External" Id="Ra27b36d1ab4340b0" /><Relationship Type="http://schemas.openxmlformats.org/officeDocument/2006/relationships/image" Target="/ppt/media/image2.png" Id="R4f81af9211254033" /><Relationship Type="http://schemas.openxmlformats.org/officeDocument/2006/relationships/notesSlide" Target="/ppt/notesSlides/notesSlide5.xml" Id="R7ccd9f18c1f341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65efff31924866" /><Relationship Type="http://schemas.openxmlformats.org/officeDocument/2006/relationships/notesSlide" Target="/ppt/notesSlides/notesSlide6.xml" Id="R8f24fece01c543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3eabe0f4374f55" /><Relationship Type="http://schemas.openxmlformats.org/officeDocument/2006/relationships/image" Target="/ppt/media/image3.png" Id="Rb4c9ce73f92b4055" /><Relationship Type="http://schemas.openxmlformats.org/officeDocument/2006/relationships/notesSlide" Target="/ppt/notesSlides/notesSlide7.xml" Id="R99883209a40e44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bfd45a0ac84224" /><Relationship Type="http://schemas.openxmlformats.org/officeDocument/2006/relationships/image" Target="/ppt/media/image4.png" Id="R1d142b3d180c42e1" /><Relationship Type="http://schemas.openxmlformats.org/officeDocument/2006/relationships/notesSlide" Target="/ppt/notesSlides/notesSlide8.xml" Id="Rb07fcab9cab040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0e239c7d034403" /><Relationship Type="http://schemas.openxmlformats.org/officeDocument/2006/relationships/hyperlink" Target="http://localhost:5172/runs/20261001-183530-abd2d8d/review" TargetMode="External" Id="R262d6b23062848ee" /><Relationship Type="http://schemas.openxmlformats.org/officeDocument/2006/relationships/notesSlide" Target="/ppt/notesSlides/notesSlide9.xml" Id="Rd0e20235076141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10ccad51964087" /><Relationship Type="http://schemas.openxmlformats.org/officeDocument/2006/relationships/image" Target="/ppt/media/image5.png" Id="R04447238f155497c" /><Relationship Type="http://schemas.openxmlformats.org/officeDocument/2006/relationships/notesSlide" Target="/ppt/notesSlides/notesSlide10.xml" Id="R73b71294a58c47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3d127f2fb24a3a" /><Relationship Type="http://schemas.openxmlformats.org/officeDocument/2006/relationships/image" Target="/ppt/media/image6.png" Id="R92c0f26e213940d6" /><Relationship Type="http://schemas.openxmlformats.org/officeDocument/2006/relationships/notesSlide" Target="/ppt/notesSlides/notesSlide11.xml" Id="Re3fe64a6a5f74f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2d510794544b90" /><Relationship Type="http://schemas.openxmlformats.org/officeDocument/2006/relationships/image" Target="/ppt/media/image7.png" Id="R37519ea2128447fe" /><Relationship Type="http://schemas.openxmlformats.org/officeDocument/2006/relationships/hyperlink" Target="https://github.com/Mohamedballouch/radar-ia-casablanca-demo/pull/2" TargetMode="External" Id="Ree6a88e9a8414ff4" /><Relationship Type="http://schemas.openxmlformats.org/officeDocument/2006/relationships/notesSlide" Target="/ppt/notesSlides/notesSlide12.xml" Id="Ra0b32cacdcce40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1cb8c4fafe46f2" /><Relationship Type="http://schemas.openxmlformats.org/officeDocument/2006/relationships/hyperlink" Target="https://github.com/Mohamedballouch/radar-ia-casablanca-demo" TargetMode="External" Id="R0c16551c478f4953" /><Relationship Type="http://schemas.openxmlformats.org/officeDocument/2006/relationships/hyperlink" Target="https://github.com/Mohamedballouch/radar-ia-casablanca-demo/issues/1" TargetMode="External" Id="R086ffccdcc504e11" /><Relationship Type="http://schemas.openxmlformats.org/officeDocument/2006/relationships/hyperlink" Target="https://raw.githubusercontent.com/Mohamedballouch/radar-ia-casablanca-demo/develop/workshop/videos/demo-radar-ia-produit.mp4" TargetMode="External" Id="Re20cddd5f4164e5d" /><Relationship Type="http://schemas.openxmlformats.org/officeDocument/2006/relationships/hyperlink" Target="https://raw.githubusercontent.com/Mohamedballouch/radar-ia-casablanca-demo/develop/workshop/videos/demo-pdo-run-inspection.mp4" TargetMode="External" Id="R945e34899b0a4f80" /><Relationship Type="http://schemas.openxmlformats.org/officeDocument/2006/relationships/hyperlink" Target="https://raw.githubusercontent.com/Mohamedballouch/radar-ia-casablanca-demo/develop/workshop/examples/note-arbitrage-exemple.pdf" TargetMode="External" Id="R105667e6c1c44490" /><Relationship Type="http://schemas.openxmlformats.org/officeDocument/2006/relationships/notesSlide" Target="/ppt/notesSlides/notesSlide13.xml" Id="R4bb9834bff964591" /></Relationships>
</file>

<file path=ppt/slides/slide1.xml><?xml version="1.0" encoding="utf-8"?>
<p:sld xmlns:p="http://schemas.openxmlformats.org/presentationml/2006/main">
  <p:cSld>
    <p:bg>
      <p:bgPr>
        <a:solidFill xmlns:a="http://schemas.openxmlformats.org/drawingml/2006/main">
          <a:srgbClr val="10212B"/>
        </a:solidFill>
      </p:bgPr>
    </p:bg>
    <p:spTree>
      <p:nvGrpSpPr>
        <p:cNvPr id="1" name=""/>
        <p:cNvGrpSpPr/>
        <p:nvPr/>
      </p:nvGrpSpPr>
      <p:grpSpPr>
        <a:xfrm xmlns:a="http://schemas.openxmlformats.org/drawingml/2006/main"/>
      </p:grpSpPr>
      <p:sp>
        <p:nvSpPr>
          <p:cNvPr id="5" name="cover-title">
            <a:extLst xmlns:a="http://schemas.openxmlformats.org/drawingml/2006/main">
              <a:ext uri="{FF2B5EF4-FFF2-40B4-BE49-F238E27FC236}">
                <a16:creationId xmlns:a16="http://schemas.microsoft.com/office/drawing/2014/main" id="{0C35F517-67C1-46F3-A816-E0E86D9122AA}"/>
              </a:ext>
            </a:extLst>
          </p:cNvPr>
          <p:cNvSpPr>
            <a:spLocks xmlns:a="http://schemas.openxmlformats.org/drawingml/2006/main" noGrp="1"/>
          </p:cNvSpPr>
          <p:nvPr/>
        </p:nvSpPr>
        <p:spPr>
          <a:xfrm xmlns:a="http://schemas.openxmlformats.org/drawingml/2006/main">
            <a:off x="685800" y="14668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PDSF + PDO</a:t>
            </a:r>
          </a:p>
        </p:txBody>
      </p:sp>
      <p:sp>
        <p:nvSpPr>
          <p:cNvPr id="2" name="cover-subtitle">
            <a:extLst xmlns:a="http://schemas.openxmlformats.org/drawingml/2006/main">
              <a:ext uri="{FF2B5EF4-FFF2-40B4-BE49-F238E27FC236}">
                <a16:creationId xmlns:a16="http://schemas.microsoft.com/office/drawing/2014/main" id="{5607A262-F75C-4B8F-9ED4-CA35503030F8}"/>
              </a:ext>
            </a:extLst>
          </p:cNvPr>
          <p:cNvSpPr>
            <a:spLocks xmlns:a="http://schemas.openxmlformats.org/drawingml/2006/main" noGrp="1"/>
          </p:cNvSpPr>
          <p:nvPr/>
        </p:nvSpPr>
        <p:spPr>
          <a:xfrm xmlns:a="http://schemas.openxmlformats.org/drawingml/2006/main">
            <a:off x="714375" y="25146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Du besoin métier au résultat vérifiable</a:t>
            </a:r>
          </a:p>
        </p:txBody>
      </p:sp>
      <p:sp>
        <p:nvSpPr>
          <p:cNvPr id="3" name="cover-expanded">
            <a:extLst xmlns:a="http://schemas.openxmlformats.org/drawingml/2006/main">
              <a:ext uri="{FF2B5EF4-FFF2-40B4-BE49-F238E27FC236}">
                <a16:creationId xmlns:a16="http://schemas.microsoft.com/office/drawing/2014/main" id="{C4AEA00C-D4CE-47A5-BF2D-04ED4F74B697}"/>
              </a:ext>
            </a:extLst>
          </p:cNvPr>
          <p:cNvSpPr>
            <a:spLocks xmlns:a="http://schemas.openxmlformats.org/drawingml/2006/main" noGrp="1"/>
          </p:cNvSpPr>
          <p:nvPr/>
        </p:nvSpPr>
        <p:spPr>
          <a:xfrm xmlns:a="http://schemas.openxmlformats.org/drawingml/2006/main">
            <a:off x="714375" y="3457575"/>
            <a:ext cx="1038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B8CBC7"/>
                </a:solidFill>
                <a:latin typeface="Arial"/>
                <a:ea typeface="Arial"/>
                <a:cs typeface="Arial"/>
              </a:defRPr>
            </a:pPr>
            <a:r>
              <a:rPr sz="1725" b="0">
                <a:solidFill>
                  <a:srgbClr val="B8CBC7"/>
                </a:solidFill>
                <a:latin typeface="Arial"/>
                <a:ea typeface="Arial"/>
                <a:cs typeface="Arial"/>
              </a:rPr>
              <a:t>Prompt Driven Software Factory + Prompt Driven Orchestrator</a:t>
            </a:r>
          </a:p>
        </p:txBody>
      </p:sp>
      <p:sp>
        <p:nvSpPr>
          <p:cNvPr id="4" name="cover-meta">
            <a:extLst xmlns:a="http://schemas.openxmlformats.org/drawingml/2006/main">
              <a:ext uri="{FF2B5EF4-FFF2-40B4-BE49-F238E27FC236}">
                <a16:creationId xmlns:a16="http://schemas.microsoft.com/office/drawing/2014/main" id="{DFEB4726-346C-48AE-95AC-9608D904439D}"/>
              </a:ext>
            </a:extLst>
          </p:cNvPr>
          <p:cNvSpPr>
            <a:spLocks xmlns:a="http://schemas.openxmlformats.org/drawingml/2006/main" noGrp="1"/>
          </p:cNvSpPr>
          <p:nvPr/>
        </p:nvSpPr>
        <p:spPr>
          <a:xfrm xmlns:a="http://schemas.openxmlformats.org/drawingml/2006/main">
            <a:off x="714375" y="50101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B8CBC7"/>
                </a:solidFill>
                <a:latin typeface="Arial"/>
                <a:ea typeface="Arial"/>
                <a:cs typeface="Arial"/>
              </a:defRPr>
            </a:pPr>
            <a:r>
              <a:rPr sz="1725" b="0">
                <a:solidFill>
                  <a:srgbClr val="B8CBC7"/>
                </a:solidFill>
                <a:latin typeface="Arial"/>
                <a:ea typeface="Arial"/>
                <a:cs typeface="Arial"/>
              </a:rPr>
              <a:t>Atelier d’équipe · Casablanca · lundi 5 octobre 2026 · 40 min</a:t>
            </a:r>
          </a:p>
        </p:txBody>
      </p:sp>
    </p:spTree>
    <p:extLst>
      <p:ext uri="{BB962C8B-B14F-4D97-AF65-F5344CB8AC3E}">
        <p14:creationId xmlns:p14="http://schemas.microsoft.com/office/powerpoint/2010/main" val="2007031219"/>
      </p:ext>
    </p:extLst>
  </p:cSld>
</p:sld>
</file>

<file path=ppt/slides/slide2.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5" name="title-2">
            <a:extLst xmlns:a="http://schemas.openxmlformats.org/drawingml/2006/main">
              <a:ext uri="{FF2B5EF4-FFF2-40B4-BE49-F238E27FC236}">
                <a16:creationId xmlns:a16="http://schemas.microsoft.com/office/drawing/2014/main" id="{EB22A6DE-95C3-4292-8DD1-A58BB9422F5C}"/>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4202B"/>
                </a:solidFill>
                <a:latin typeface="Arial"/>
                <a:ea typeface="Arial"/>
                <a:cs typeface="Arial"/>
              </a:defRPr>
            </a:pPr>
            <a:r>
              <a:rPr sz="3000" b="1">
                <a:solidFill>
                  <a:srgbClr val="14202B"/>
                </a:solidFill>
                <a:latin typeface="Arial"/>
                <a:ea typeface="Arial"/>
                <a:cs typeface="Arial"/>
              </a:rPr>
              <a:t>Le mini-produit : Radar des cas d’usage IA</a:t>
            </a:r>
          </a:p>
        </p:txBody>
      </p:sp>
      <p:sp>
        <p:nvSpPr>
          <p:cNvPr id="2" name="page-2">
            <a:extLst xmlns:a="http://schemas.openxmlformats.org/drawingml/2006/main">
              <a:ext uri="{FF2B5EF4-FFF2-40B4-BE49-F238E27FC236}">
                <a16:creationId xmlns:a16="http://schemas.microsoft.com/office/drawing/2014/main" id="{AC2D70FC-8CE2-4B16-86EC-1EE5FECBC282}"/>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65727B"/>
                </a:solidFill>
                <a:latin typeface="Arial"/>
                <a:ea typeface="Arial"/>
                <a:cs typeface="Arial"/>
              </a:defRPr>
            </a:pPr>
            <a:r>
              <a:rPr sz="1200" b="0">
                <a:solidFill>
                  <a:srgbClr val="65727B"/>
                </a:solidFill>
                <a:latin typeface="Arial"/>
                <a:ea typeface="Arial"/>
                <a:cs typeface="Arial"/>
              </a:rPr>
              <a:t>02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9d9c8d84e534a6d"/>
          <a:stretch xmlns:a="http://schemas.openxmlformats.org/drawingml/2006/main"/>
        </p:blipFill>
        <p:spPr>
          <a:xfrm xmlns:a="http://schemas.openxmlformats.org/drawingml/2006/main">
            <a:off x="1862667" y="1323975"/>
            <a:ext cx="8466667" cy="4762500"/>
          </a:xfrm>
          <a:prstGeom xmlns:a="http://schemas.openxmlformats.org/drawingml/2006/main" prst="rect">
            <a:avLst/>
          </a:prstGeom>
        </p:spPr>
      </p:pic>
      <p:sp>
        <p:nvSpPr>
          <p:cNvPr id="4" name="fiction-note">
            <a:extLst xmlns:a="http://schemas.openxmlformats.org/drawingml/2006/main">
              <a:ext uri="{FF2B5EF4-FFF2-40B4-BE49-F238E27FC236}">
                <a16:creationId xmlns:a16="http://schemas.microsoft.com/office/drawing/2014/main" id="{4A20EAB7-5C9A-4E92-BB1A-D94CF8B91FCE}"/>
              </a:ext>
            </a:extLst>
          </p:cNvPr>
          <p:cNvSpPr>
            <a:spLocks xmlns:a="http://schemas.openxmlformats.org/drawingml/2006/main" noGrp="1"/>
          </p:cNvSpPr>
          <p:nvPr/>
        </p:nvSpPr>
        <p:spPr>
          <a:xfrm xmlns:a="http://schemas.openxmlformats.org/drawingml/2006/main">
            <a:off x="762000" y="6115050"/>
            <a:ext cx="1055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0B604F"/>
                </a:solidFill>
                <a:latin typeface="Arial"/>
                <a:ea typeface="Arial"/>
                <a:cs typeface="Arial"/>
              </a:defRPr>
            </a:pPr>
            <a:r>
              <a:rPr sz="1575" b="1">
                <a:solidFill>
                  <a:srgbClr val="0B604F"/>
                </a:solidFill>
                <a:latin typeface="Arial"/>
                <a:ea typeface="Arial"/>
                <a:cs typeface="Arial"/>
              </a:rPr>
              <a:t>Trois cas fictifs · quatre critères visibles · classement instantané</a:t>
            </a:r>
          </a:p>
        </p:txBody>
      </p:sp>
    </p:spTree>
    <p:extLst>
      <p:ext uri="{BB962C8B-B14F-4D97-AF65-F5344CB8AC3E}">
        <p14:creationId xmlns:p14="http://schemas.microsoft.com/office/powerpoint/2010/main" val="884447947"/>
      </p:ext>
    </p:extLst>
  </p:cSld>
</p:sld>
</file>

<file path=ppt/slides/slide3.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7" name="title-3">
            <a:extLst xmlns:a="http://schemas.openxmlformats.org/drawingml/2006/main">
              <a:ext uri="{FF2B5EF4-FFF2-40B4-BE49-F238E27FC236}">
                <a16:creationId xmlns:a16="http://schemas.microsoft.com/office/drawing/2014/main" id="{6A412FE1-4092-45F8-9366-956CAE61040E}"/>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4202B"/>
                </a:solidFill>
                <a:latin typeface="Arial"/>
                <a:ea typeface="Arial"/>
                <a:cs typeface="Arial"/>
              </a:defRPr>
            </a:pPr>
            <a:r>
              <a:rPr sz="3000" b="1">
                <a:solidFill>
                  <a:srgbClr val="14202B"/>
                </a:solidFill>
                <a:latin typeface="Arial"/>
                <a:ea typeface="Arial"/>
                <a:cs typeface="Arial"/>
              </a:rPr>
              <a:t>PDSF : une méthode installée dans le dépôt</a:t>
            </a:r>
          </a:p>
        </p:txBody>
      </p:sp>
      <p:sp>
        <p:nvSpPr>
          <p:cNvPr id="2" name="page-3">
            <a:extLst xmlns:a="http://schemas.openxmlformats.org/drawingml/2006/main">
              <a:ext uri="{FF2B5EF4-FFF2-40B4-BE49-F238E27FC236}">
                <a16:creationId xmlns:a16="http://schemas.microsoft.com/office/drawing/2014/main" id="{A024F8D9-4E31-4E11-9E49-E26EF5CDAFF8}"/>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65727B"/>
                </a:solidFill>
                <a:latin typeface="Arial"/>
                <a:ea typeface="Arial"/>
                <a:cs typeface="Arial"/>
              </a:defRPr>
            </a:pPr>
            <a:r>
              <a:rPr sz="1200" b="0">
                <a:solidFill>
                  <a:srgbClr val="65727B"/>
                </a:solidFill>
                <a:latin typeface="Arial"/>
                <a:ea typeface="Arial"/>
                <a:cs typeface="Arial"/>
              </a:rPr>
              <a:t>03</a:t>
            </a:r>
          </a:p>
        </p:txBody>
      </p:sp>
      <p:sp>
        <p:nvSpPr>
          <p:cNvPr id="3" name="pdsf-definition">
            <a:extLst xmlns:a="http://schemas.openxmlformats.org/drawingml/2006/main">
              <a:ext uri="{FF2B5EF4-FFF2-40B4-BE49-F238E27FC236}">
                <a16:creationId xmlns:a16="http://schemas.microsoft.com/office/drawing/2014/main" id="{0281EA6D-C932-46EB-8687-D52F458C4E87}"/>
              </a:ext>
            </a:extLst>
          </p:cNvPr>
          <p:cNvSpPr>
            <a:spLocks xmlns:a="http://schemas.openxmlformats.org/drawingml/2006/main" noGrp="1"/>
          </p:cNvSpPr>
          <p:nvPr/>
        </p:nvSpPr>
        <p:spPr>
          <a:xfrm xmlns:a="http://schemas.openxmlformats.org/drawingml/2006/main">
            <a:off x="666750" y="1438275"/>
            <a:ext cx="1028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4202B"/>
                </a:solidFill>
                <a:latin typeface="Arial"/>
                <a:ea typeface="Arial"/>
                <a:cs typeface="Arial"/>
              </a:defRPr>
            </a:pPr>
            <a:r>
              <a:rPr sz="2325" b="1">
                <a:solidFill>
                  <a:srgbClr val="14202B"/>
                </a:solidFill>
                <a:latin typeface="Arial"/>
                <a:ea typeface="Arial"/>
                <a:cs typeface="Arial"/>
              </a:rPr>
              <a:t>Des skills, des règles de travail et un contexte métier partagés avec l’équipe.</a:t>
            </a:r>
          </a:p>
        </p:txBody>
      </p:sp>
      <p:sp>
        <p:nvSpPr>
          <p:cNvPr id="4" name="pdsf-files">
            <a:extLst xmlns:a="http://schemas.openxmlformats.org/drawingml/2006/main">
              <a:ext uri="{FF2B5EF4-FFF2-40B4-BE49-F238E27FC236}">
                <a16:creationId xmlns:a16="http://schemas.microsoft.com/office/drawing/2014/main" id="{73F19702-7EB8-4774-ADEB-CBE9FB8883F0}"/>
              </a:ext>
            </a:extLst>
          </p:cNvPr>
          <p:cNvSpPr>
            <a:spLocks xmlns:a="http://schemas.openxmlformats.org/drawingml/2006/main" noGrp="1"/>
          </p:cNvSpPr>
          <p:nvPr/>
        </p:nvSpPr>
        <p:spPr>
          <a:xfrm xmlns:a="http://schemas.openxmlformats.org/drawingml/2006/main">
            <a:off x="723900" y="278130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0B604F"/>
                </a:solidFill>
                <a:latin typeface="Arial"/>
                <a:ea typeface="Arial"/>
                <a:cs typeface="Arial"/>
              </a:defRPr>
            </a:pPr>
            <a:r>
              <a:rPr sz="2175" b="0">
                <a:solidFill>
                  <a:srgbClr val="0B604F"/>
                </a:solidFill>
                <a:latin typeface="Arial"/>
                <a:ea typeface="Arial"/>
                <a:cs typeface="Arial"/>
              </a:rPr>
              <a:t>AGENTS.md</a:t>
            </a:r>
          </a:p>
          <a:p xmlns:a="http://schemas.openxmlformats.org/drawingml/2006/main">
            <a:pPr algn="l">
              <a:defRPr sz="2175" b="0">
                <a:solidFill>
                  <a:srgbClr val="0B604F"/>
                </a:solidFill>
                <a:latin typeface="Arial"/>
                <a:ea typeface="Arial"/>
                <a:cs typeface="Arial"/>
              </a:defRPr>
            </a:pPr>
            <a:r>
              <a:rPr sz="2175" b="0">
                <a:solidFill>
                  <a:srgbClr val="0B604F"/>
                </a:solidFill>
                <a:latin typeface="Arial"/>
                <a:ea typeface="Arial"/>
                <a:cs typeface="Arial"/>
              </a:rPr>
              <a:t>.agents/skills/</a:t>
            </a:r>
          </a:p>
          <a:p xmlns:a="http://schemas.openxmlformats.org/drawingml/2006/main">
            <a:pPr algn="l">
              <a:defRPr sz="2175" b="0">
                <a:solidFill>
                  <a:srgbClr val="0B604F"/>
                </a:solidFill>
                <a:latin typeface="Arial"/>
                <a:ea typeface="Arial"/>
                <a:cs typeface="Arial"/>
              </a:defRPr>
            </a:pPr>
            <a:r>
              <a:rPr sz="2175" b="0">
                <a:solidFill>
                  <a:srgbClr val="0B604F"/>
                </a:solidFill>
                <a:latin typeface="Arial"/>
                <a:ea typeface="Arial"/>
                <a:cs typeface="Arial"/>
              </a:rPr>
              <a:t>CONTEXT.md</a:t>
            </a:r>
          </a:p>
          <a:p xmlns:a="http://schemas.openxmlformats.org/drawingml/2006/main">
            <a:pPr algn="l">
              <a:defRPr sz="2175" b="0">
                <a:solidFill>
                  <a:srgbClr val="0B604F"/>
                </a:solidFill>
                <a:latin typeface="Arial"/>
                <a:ea typeface="Arial"/>
                <a:cs typeface="Arial"/>
              </a:defRPr>
            </a:pPr>
            <a:r>
              <a:rPr sz="2175" b="0">
                <a:solidFill>
                  <a:srgbClr val="0B604F"/>
                </a:solidFill>
                <a:latin typeface="Arial"/>
                <a:ea typeface="Arial"/>
                <a:cs typeface="Arial"/>
              </a:rPr>
              <a:t>docs/adr/</a:t>
            </a:r>
          </a:p>
        </p:txBody>
      </p:sp>
      <p:sp>
        <p:nvSpPr>
          <p:cNvPr id="5" name="pdsf-bootstrap">
            <a:extLst xmlns:a="http://schemas.openxmlformats.org/drawingml/2006/main">
              <a:ext uri="{FF2B5EF4-FFF2-40B4-BE49-F238E27FC236}">
                <a16:creationId xmlns:a16="http://schemas.microsoft.com/office/drawing/2014/main" id="{4A7593AD-B48C-4B72-BC46-074E0F29A91D}"/>
              </a:ext>
            </a:extLst>
          </p:cNvPr>
          <p:cNvSpPr>
            <a:spLocks xmlns:a="http://schemas.openxmlformats.org/drawingml/2006/main" noGrp="1"/>
          </p:cNvSpPr>
          <p:nvPr/>
        </p:nvSpPr>
        <p:spPr>
          <a:xfrm xmlns:a="http://schemas.openxmlformats.org/drawingml/2006/main">
            <a:off x="5581650" y="2867025"/>
            <a:ext cx="568642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14202B"/>
                </a:solidFill>
                <a:latin typeface="Arial"/>
                <a:ea typeface="Arial"/>
                <a:cs typeface="Arial"/>
              </a:defRPr>
            </a:pPr>
            <a:r>
              <a:rPr sz="2025" b="0">
                <a:solidFill>
                  <a:srgbClr val="14202B"/>
                </a:solidFill>
                <a:latin typeface="Arial"/>
                <a:ea typeface="Arial"/>
                <a:cs typeface="Arial"/>
              </a:rPr>
              <a:t>/build-factory initialise la méthode.</a:t>
            </a:r>
          </a:p>
          <a:p xmlns:a="http://schemas.openxmlformats.org/drawingml/2006/main">
            <a:pPr algn="l">
              <a:defRPr sz="2025" b="0">
                <a:solidFill>
                  <a:srgbClr val="14202B"/>
                </a:solidFill>
                <a:latin typeface="Arial"/>
                <a:ea typeface="Arial"/>
                <a:cs typeface="Arial"/>
              </a:defRPr>
            </a:pPr>
            <a:r>
              <a:rPr sz="2025" b="0">
                <a:solidFill>
                  <a:srgbClr val="14202B"/>
                </a:solidFill>
                <a:latin typeface="Arial"/>
                <a:ea typeface="Arial"/>
                <a:cs typeface="Arial"/>
              </a:rPr>
              <a:t>Les décisions et le vocabulaire vivent dans le dépôt.</a:t>
            </a:r>
          </a:p>
        </p:txBody>
      </p:sp>
      <p:sp>
        <p:nvSpPr>
          <p:cNvPr id="6" name="pdsf-qualification">
            <a:extLst xmlns:a="http://schemas.openxmlformats.org/drawingml/2006/main">
              <a:ext uri="{FF2B5EF4-FFF2-40B4-BE49-F238E27FC236}">
                <a16:creationId xmlns:a16="http://schemas.microsoft.com/office/drawing/2014/main" id="{1C267749-511D-416A-A102-CD0617C111D2}"/>
              </a:ext>
            </a:extLst>
          </p:cNvPr>
          <p:cNvSpPr>
            <a:spLocks xmlns:a="http://schemas.openxmlformats.org/drawingml/2006/main" noGrp="1"/>
          </p:cNvSpPr>
          <p:nvPr/>
        </p:nvSpPr>
        <p:spPr>
          <a:xfrm xmlns:a="http://schemas.openxmlformats.org/drawingml/2006/main">
            <a:off x="723900" y="5543550"/>
            <a:ext cx="10144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65727B"/>
                </a:solidFill>
                <a:latin typeface="Arial"/>
                <a:ea typeface="Arial"/>
                <a:cs typeface="Arial"/>
              </a:defRPr>
            </a:pPr>
            <a:r>
              <a:rPr sz="1425" b="0">
                <a:solidFill>
                  <a:srgbClr val="65727B"/>
                </a:solidFill>
                <a:latin typeface="Arial"/>
                <a:ea typeface="Arial"/>
                <a:cs typeface="Arial"/>
              </a:rPr>
              <a:t>Les skills installés guident le travail ; leur présence seule ne prouve pas leur exécution.</a:t>
            </a:r>
          </a:p>
        </p:txBody>
      </p:sp>
    </p:spTree>
    <p:extLst>
      <p:ext uri="{BB962C8B-B14F-4D97-AF65-F5344CB8AC3E}">
        <p14:creationId xmlns:p14="http://schemas.microsoft.com/office/powerpoint/2010/main" val="1008307453"/>
      </p:ext>
    </p:extLst>
  </p:cSld>
</p:sld>
</file>

<file path=ppt/slides/slide4.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7" name="title-4">
            <a:extLst xmlns:a="http://schemas.openxmlformats.org/drawingml/2006/main">
              <a:ext uri="{FF2B5EF4-FFF2-40B4-BE49-F238E27FC236}">
                <a16:creationId xmlns:a16="http://schemas.microsoft.com/office/drawing/2014/main" id="{C0F7A9FF-7F6D-4461-A1E8-9AD900CC4B66}"/>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4202B"/>
                </a:solidFill>
                <a:latin typeface="Arial"/>
                <a:ea typeface="Arial"/>
                <a:cs typeface="Arial"/>
              </a:defRPr>
            </a:pPr>
            <a:r>
              <a:rPr sz="3000" b="1">
                <a:solidFill>
                  <a:srgbClr val="14202B"/>
                </a:solidFill>
                <a:latin typeface="Arial"/>
                <a:ea typeface="Arial"/>
                <a:cs typeface="Arial"/>
              </a:rPr>
              <a:t>PDSF : du backlog métier au ticket exploitable</a:t>
            </a:r>
          </a:p>
        </p:txBody>
      </p:sp>
      <p:sp>
        <p:nvSpPr>
          <p:cNvPr id="2" name="page-4">
            <a:extLst xmlns:a="http://schemas.openxmlformats.org/drawingml/2006/main">
              <a:ext uri="{FF2B5EF4-FFF2-40B4-BE49-F238E27FC236}">
                <a16:creationId xmlns:a16="http://schemas.microsoft.com/office/drawing/2014/main" id="{F866C4B0-0986-4BCB-BFC3-B4F53909242D}"/>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65727B"/>
                </a:solidFill>
                <a:latin typeface="Arial"/>
                <a:ea typeface="Arial"/>
                <a:cs typeface="Arial"/>
              </a:defRPr>
            </a:pPr>
            <a:r>
              <a:rPr sz="1200" b="0">
                <a:solidFill>
                  <a:srgbClr val="65727B"/>
                </a:solidFill>
                <a:latin typeface="Arial"/>
                <a:ea typeface="Arial"/>
                <a:cs typeface="Arial"/>
              </a:rPr>
              <a:t>04</a:t>
            </a:r>
          </a:p>
        </p:txBody>
      </p:sp>
      <p:sp>
        <p:nvSpPr>
          <p:cNvPr id="3" name="step-01">
            <a:extLst xmlns:a="http://schemas.openxmlformats.org/drawingml/2006/main">
              <a:ext uri="{FF2B5EF4-FFF2-40B4-BE49-F238E27FC236}">
                <a16:creationId xmlns:a16="http://schemas.microsoft.com/office/drawing/2014/main" id="{0217D7ED-1A33-4656-BF00-D05F657EBA8D}"/>
              </a:ext>
            </a:extLst>
          </p:cNvPr>
          <p:cNvSpPr>
            <a:spLocks xmlns:a="http://schemas.openxmlformats.org/drawingml/2006/main" noGrp="1"/>
          </p:cNvSpPr>
          <p:nvPr/>
        </p:nvSpPr>
        <p:spPr>
          <a:xfrm xmlns:a="http://schemas.openxmlformats.org/drawingml/2006/main">
            <a:off x="723900" y="1552575"/>
            <a:ext cx="10382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0B604F"/>
                </a:solidFill>
                <a:latin typeface="Arial"/>
                <a:ea typeface="Arial"/>
                <a:cs typeface="Arial"/>
              </a:defRPr>
            </a:pPr>
            <a:r>
              <a:rPr sz="2475" b="1">
                <a:solidFill>
                  <a:srgbClr val="0B604F"/>
                </a:solidFill>
                <a:latin typeface="Arial"/>
                <a:ea typeface="Arial"/>
                <a:cs typeface="Arial"/>
              </a:rPr>
              <a:t>01   Besoin métier et User Stories</a:t>
            </a:r>
          </a:p>
        </p:txBody>
      </p:sp>
      <p:sp>
        <p:nvSpPr>
          <p:cNvPr id="4" name="step-02">
            <a:extLst xmlns:a="http://schemas.openxmlformats.org/drawingml/2006/main">
              <a:ext uri="{FF2B5EF4-FFF2-40B4-BE49-F238E27FC236}">
                <a16:creationId xmlns:a16="http://schemas.microsoft.com/office/drawing/2014/main" id="{15C5B03D-DDCF-4ED3-998F-2EF459320D44}"/>
              </a:ext>
            </a:extLst>
          </p:cNvPr>
          <p:cNvSpPr>
            <a:spLocks xmlns:a="http://schemas.openxmlformats.org/drawingml/2006/main" noGrp="1"/>
          </p:cNvSpPr>
          <p:nvPr/>
        </p:nvSpPr>
        <p:spPr>
          <a:xfrm xmlns:a="http://schemas.openxmlformats.org/drawingml/2006/main">
            <a:off x="723900" y="2600325"/>
            <a:ext cx="1038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14202B"/>
                </a:solidFill>
                <a:latin typeface="Arial"/>
                <a:ea typeface="Arial"/>
                <a:cs typeface="Arial"/>
              </a:defRPr>
            </a:pPr>
            <a:r>
              <a:rPr sz="2475" b="1">
                <a:solidFill>
                  <a:srgbClr val="14202B"/>
                </a:solidFill>
                <a:latin typeface="Arial"/>
                <a:ea typeface="Arial"/>
                <a:cs typeface="Arial"/>
              </a:rPr>
              <a:t>02   Conception : vocabulaire, décisions, critères</a:t>
            </a:r>
          </a:p>
        </p:txBody>
      </p:sp>
      <p:sp>
        <p:nvSpPr>
          <p:cNvPr id="5" name="step-03">
            <a:extLst xmlns:a="http://schemas.openxmlformats.org/drawingml/2006/main">
              <a:ext uri="{FF2B5EF4-FFF2-40B4-BE49-F238E27FC236}">
                <a16:creationId xmlns:a16="http://schemas.microsoft.com/office/drawing/2014/main" id="{3606AD21-EB09-4CB6-9EF9-E00A2D2001F7}"/>
              </a:ext>
            </a:extLst>
          </p:cNvPr>
          <p:cNvSpPr>
            <a:spLocks xmlns:a="http://schemas.openxmlformats.org/drawingml/2006/main" noGrp="1"/>
          </p:cNvSpPr>
          <p:nvPr/>
        </p:nvSpPr>
        <p:spPr>
          <a:xfrm xmlns:a="http://schemas.openxmlformats.org/drawingml/2006/main">
            <a:off x="723900" y="3876675"/>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14202B"/>
                </a:solidFill>
                <a:latin typeface="Arial"/>
                <a:ea typeface="Arial"/>
                <a:cs typeface="Arial"/>
              </a:defRPr>
            </a:pPr>
            <a:r>
              <a:rPr sz="2475" b="1">
                <a:solidFill>
                  <a:srgbClr val="14202B"/>
                </a:solidFill>
                <a:latin typeface="Arial"/>
                <a:ea typeface="Arial"/>
                <a:cs typeface="Arial"/>
              </a:rPr>
              <a:t>03   Spec et tickets techniques autoporteurs</a:t>
            </a:r>
          </a:p>
        </p:txBody>
      </p:sp>
      <p:sp>
        <p:nvSpPr>
          <p:cNvPr id="6" name="pdsf-humans">
            <a:extLst xmlns:a="http://schemas.openxmlformats.org/drawingml/2006/main">
              <a:ext uri="{FF2B5EF4-FFF2-40B4-BE49-F238E27FC236}">
                <a16:creationId xmlns:a16="http://schemas.microsoft.com/office/drawing/2014/main" id="{2F831857-EFEF-4E8E-8CEC-8B4AC8D0EE8B}"/>
              </a:ext>
            </a:extLst>
          </p:cNvPr>
          <p:cNvSpPr>
            <a:spLocks xmlns:a="http://schemas.openxmlformats.org/drawingml/2006/main" noGrp="1"/>
          </p:cNvSpPr>
          <p:nvPr/>
        </p:nvSpPr>
        <p:spPr>
          <a:xfrm xmlns:a="http://schemas.openxmlformats.org/drawingml/2006/main">
            <a:off x="723900" y="5305425"/>
            <a:ext cx="10477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65727B"/>
                </a:solidFill>
                <a:latin typeface="Arial"/>
                <a:ea typeface="Arial"/>
                <a:cs typeface="Arial"/>
              </a:defRPr>
            </a:pPr>
            <a:r>
              <a:rPr sz="1725" b="0">
                <a:solidFill>
                  <a:srgbClr val="65727B"/>
                </a:solidFill>
                <a:latin typeface="Arial"/>
                <a:ea typeface="Arial"/>
                <a:cs typeface="Arial"/>
              </a:rPr>
              <a:t>Le PO et le développeur gardent la main sur les décisions structurantes.</a:t>
            </a:r>
          </a:p>
        </p:txBody>
      </p:sp>
    </p:spTree>
    <p:extLst>
      <p:ext uri="{BB962C8B-B14F-4D97-AF65-F5344CB8AC3E}">
        <p14:creationId xmlns:p14="http://schemas.microsoft.com/office/powerpoint/2010/main" val="1031024235"/>
      </p:ext>
    </p:extLst>
  </p:cSld>
</p:sld>
</file>

<file path=ppt/slides/slide5.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7" name="title-5">
            <a:extLst xmlns:a="http://schemas.openxmlformats.org/drawingml/2006/main">
              <a:ext uri="{FF2B5EF4-FFF2-40B4-BE49-F238E27FC236}">
                <a16:creationId xmlns:a16="http://schemas.microsoft.com/office/drawing/2014/main" id="{39CB0996-2DF3-40A0-93C6-12DE3E493BC0}"/>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4202B"/>
                </a:solidFill>
                <a:latin typeface="Arial"/>
                <a:ea typeface="Arial"/>
                <a:cs typeface="Arial"/>
              </a:defRPr>
            </a:pPr>
            <a:r>
              <a:rPr sz="3000" b="1">
                <a:solidFill>
                  <a:srgbClr val="14202B"/>
                </a:solidFill>
                <a:latin typeface="Arial"/>
                <a:ea typeface="Arial"/>
                <a:cs typeface="Arial"/>
              </a:rPr>
              <a:t>L’issue de l’atelier : une note d’arbitrage</a:t>
            </a:r>
          </a:p>
        </p:txBody>
      </p:sp>
      <p:sp>
        <p:nvSpPr>
          <p:cNvPr id="2" name="page-5">
            <a:extLst xmlns:a="http://schemas.openxmlformats.org/drawingml/2006/main">
              <a:ext uri="{FF2B5EF4-FFF2-40B4-BE49-F238E27FC236}">
                <a16:creationId xmlns:a16="http://schemas.microsoft.com/office/drawing/2014/main" id="{CE40628A-1BFA-4B5D-9DE9-72882D2D8899}"/>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65727B"/>
                </a:solidFill>
                <a:latin typeface="Arial"/>
                <a:ea typeface="Arial"/>
                <a:cs typeface="Arial"/>
              </a:defRPr>
            </a:pPr>
            <a:r>
              <a:rPr sz="1200" b="0">
                <a:solidFill>
                  <a:srgbClr val="65727B"/>
                </a:solidFill>
                <a:latin typeface="Arial"/>
                <a:ea typeface="Arial"/>
                <a:cs typeface="Arial"/>
              </a:rPr>
              <a:t>05</a:t>
            </a:r>
          </a:p>
        </p:txBody>
      </p:sp>
      <p:sp>
        <p:nvSpPr>
          <p:cNvPr id="3" name="issue-need">
            <a:extLst xmlns:a="http://schemas.openxmlformats.org/drawingml/2006/main">
              <a:ext uri="{FF2B5EF4-FFF2-40B4-BE49-F238E27FC236}">
                <a16:creationId xmlns:a16="http://schemas.microsoft.com/office/drawing/2014/main" id="{425EC882-EF16-4DFD-BAF1-BF651A926F76}"/>
              </a:ext>
            </a:extLst>
          </p:cNvPr>
          <p:cNvSpPr>
            <a:spLocks xmlns:a="http://schemas.openxmlformats.org/drawingml/2006/main" noGrp="1"/>
          </p:cNvSpPr>
          <p:nvPr/>
        </p:nvSpPr>
        <p:spPr>
          <a:xfrm xmlns:a="http://schemas.openxmlformats.org/drawingml/2006/main">
            <a:off x="638175" y="1409700"/>
            <a:ext cx="5038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0B604F"/>
                </a:solidFill>
                <a:latin typeface="Arial"/>
                <a:ea typeface="Arial"/>
                <a:cs typeface="Arial"/>
              </a:defRPr>
            </a:pPr>
            <a:r>
              <a:rPr sz="2175" b="1">
                <a:solidFill>
                  <a:srgbClr val="0B604F"/>
                </a:solidFill>
                <a:latin typeface="Arial"/>
                <a:ea typeface="Arial"/>
                <a:cs typeface="Arial"/>
              </a:rPr>
              <a:t>Une synthèse que le responsable peut copier et imprimer.</a:t>
            </a:r>
          </a:p>
        </p:txBody>
      </p:sp>
      <p:sp>
        <p:nvSpPr>
          <p:cNvPr id="4" name="issue-criteria">
            <a:extLst xmlns:a="http://schemas.openxmlformats.org/drawingml/2006/main">
              <a:ext uri="{FF2B5EF4-FFF2-40B4-BE49-F238E27FC236}">
                <a16:creationId xmlns:a16="http://schemas.microsoft.com/office/drawing/2014/main" id="{1CD9C130-F7A9-4D2C-8B2D-F12B59F5A716}"/>
              </a:ext>
            </a:extLst>
          </p:cNvPr>
          <p:cNvSpPr>
            <a:spLocks xmlns:a="http://schemas.openxmlformats.org/drawingml/2006/main" noGrp="1"/>
          </p:cNvSpPr>
          <p:nvPr/>
        </p:nvSpPr>
        <p:spPr>
          <a:xfrm xmlns:a="http://schemas.openxmlformats.org/drawingml/2006/main">
            <a:off x="657225" y="2724150"/>
            <a:ext cx="494347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14202B"/>
                </a:solidFill>
                <a:latin typeface="Arial"/>
                <a:ea typeface="Arial"/>
                <a:cs typeface="Arial"/>
              </a:defRPr>
            </a:pPr>
            <a:r>
              <a:rPr sz="1875" b="0">
                <a:solidFill>
                  <a:srgbClr val="14202B"/>
                </a:solidFill>
                <a:latin typeface="Arial"/>
                <a:ea typeface="Arial"/>
                <a:cs typeface="Arial"/>
              </a:rPr>
              <a:t>Valeurs mises à jour en direct</a:t>
            </a:r>
          </a:p>
          <a:p xmlns:a="http://schemas.openxmlformats.org/drawingml/2006/main">
            <a:pPr algn="l">
              <a:defRPr sz="1875" b="0">
                <a:solidFill>
                  <a:srgbClr val="14202B"/>
                </a:solidFill>
                <a:latin typeface="Arial"/>
                <a:ea typeface="Arial"/>
                <a:cs typeface="Arial"/>
              </a:defRPr>
            </a:pPr>
            <a:r>
              <a:rPr sz="1875" b="0">
                <a:solidFill>
                  <a:srgbClr val="14202B"/>
                </a:solidFill>
                <a:latin typeface="Arial"/>
                <a:ea typeface="Arial"/>
                <a:cs typeface="Arial"/>
              </a:rPr>
              <a:t>Classement et ex æquo explicites</a:t>
            </a:r>
          </a:p>
          <a:p xmlns:a="http://schemas.openxmlformats.org/drawingml/2006/main">
            <a:pPr algn="l">
              <a:defRPr sz="1875" b="0">
                <a:solidFill>
                  <a:srgbClr val="14202B"/>
                </a:solidFill>
                <a:latin typeface="Arial"/>
                <a:ea typeface="Arial"/>
                <a:cs typeface="Arial"/>
              </a:defRPr>
            </a:pPr>
            <a:r>
              <a:rPr sz="1875" b="0">
                <a:solidFill>
                  <a:srgbClr val="14202B"/>
                </a:solidFill>
                <a:latin typeface="Arial"/>
                <a:ea typeface="Arial"/>
                <a:cs typeface="Arial"/>
              </a:rPr>
              <a:t>Réserves et prochaine étape</a:t>
            </a:r>
          </a:p>
          <a:p xmlns:a="http://schemas.openxmlformats.org/drawingml/2006/main">
            <a:pPr algn="l">
              <a:defRPr sz="1875" b="0">
                <a:solidFill>
                  <a:srgbClr val="14202B"/>
                </a:solidFill>
                <a:latin typeface="Arial"/>
                <a:ea typeface="Arial"/>
                <a:cs typeface="Arial"/>
              </a:defRPr>
            </a:pPr>
            <a:r>
              <a:rPr sz="1875" b="0">
                <a:solidFill>
                  <a:srgbClr val="14202B"/>
                </a:solidFill>
                <a:latin typeface="Arial"/>
                <a:ea typeface="Arial"/>
                <a:cs typeface="Arial"/>
              </a:rPr>
              <a:t>Tests + build vérifiés</a:t>
            </a:r>
          </a:p>
        </p:txBody>
      </p:sp>
      <p:sp>
        <p:nvSpPr>
          <p:cNvPr id="5" name="issue-link">
            <a:extLst xmlns:a="http://schemas.openxmlformats.org/drawingml/2006/main">
              <a:ext uri="{FF2B5EF4-FFF2-40B4-BE49-F238E27FC236}">
                <a16:creationId xmlns:a16="http://schemas.microsoft.com/office/drawing/2014/main" id="{CC32D4C1-EE1E-463C-AC63-835DDCDEA508}"/>
              </a:ext>
            </a:extLst>
          </p:cNvPr>
          <p:cNvSpPr>
            <a:spLocks xmlns:a="http://schemas.openxmlformats.org/drawingml/2006/main" noGrp="1"/>
          </p:cNvSpPr>
          <p:nvPr/>
        </p:nvSpPr>
        <p:spPr>
          <a:xfrm xmlns:a="http://schemas.openxmlformats.org/drawingml/2006/main">
            <a:off x="657225" y="55054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0B604F"/>
                </a:solidFill>
                <a:latin typeface="Arial"/>
                <a:ea typeface="Arial"/>
                <a:cs typeface="Arial"/>
              </a:defRPr>
            </a:pPr>
            <a:r>
              <a:rPr sz="1500" b="1">
                <a:solidFill>
                  <a:srgbClr val="0B604F"/>
                </a:solidFill>
                <a:latin typeface="Arial"/>
                <a:ea typeface="Arial"/>
                <a:cs typeface="Arial"/>
                <a:hlinkClick xmlns:r="http://schemas.openxmlformats.org/officeDocument/2006/relationships" r:id="Ra27b36d1ab4340b0"/>
              </a:rPr>
              <a:t>GitHub issue #1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f81af9211254033"/>
          <a:stretch xmlns:a="http://schemas.openxmlformats.org/drawingml/2006/main"/>
        </p:blipFill>
        <p:spPr>
          <a:xfrm xmlns:a="http://schemas.openxmlformats.org/drawingml/2006/main">
            <a:off x="5943600" y="2065437"/>
            <a:ext cx="5457825" cy="3070027"/>
          </a:xfrm>
          <a:prstGeom xmlns:a="http://schemas.openxmlformats.org/drawingml/2006/main" prst="rect">
            <a:avLst/>
          </a:prstGeom>
        </p:spPr>
      </p:pic>
    </p:spTree>
    <p:extLst>
      <p:ext uri="{BB962C8B-B14F-4D97-AF65-F5344CB8AC3E}">
        <p14:creationId xmlns:p14="http://schemas.microsoft.com/office/powerpoint/2010/main" val="1971493608"/>
      </p:ext>
    </p:extLst>
  </p:cSld>
</p:sld>
</file>

<file path=ppt/slides/slide6.xml><?xml version="1.0" encoding="utf-8"?>
<p:sld xmlns:p="http://schemas.openxmlformats.org/presentationml/2006/main">
  <p:cSld>
    <p:bg>
      <p:bgPr>
        <a:solidFill xmlns:a="http://schemas.openxmlformats.org/drawingml/2006/main">
          <a:srgbClr val="10212B"/>
        </a:solidFill>
      </p:bgPr>
    </p:bg>
    <p:spTree>
      <p:nvGrpSpPr>
        <p:cNvPr id="1" name=""/>
        <p:cNvGrpSpPr/>
        <p:nvPr/>
      </p:nvGrpSpPr>
      <p:grpSpPr>
        <a:xfrm xmlns:a="http://schemas.openxmlformats.org/drawingml/2006/main"/>
      </p:grpSpPr>
      <p:sp>
        <p:nvSpPr>
          <p:cNvPr id="7" name="title-6">
            <a:extLst xmlns:a="http://schemas.openxmlformats.org/drawingml/2006/main">
              <a:ext uri="{FF2B5EF4-FFF2-40B4-BE49-F238E27FC236}">
                <a16:creationId xmlns:a16="http://schemas.microsoft.com/office/drawing/2014/main" id="{D80E7EC8-DC9E-4E96-84CB-D0086B2A0438}"/>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PDO : un pipeline réutilisable, un run par dépôt</a:t>
            </a:r>
          </a:p>
        </p:txBody>
      </p:sp>
      <p:sp>
        <p:nvSpPr>
          <p:cNvPr id="2" name="page-6">
            <a:extLst xmlns:a="http://schemas.openxmlformats.org/drawingml/2006/main">
              <a:ext uri="{FF2B5EF4-FFF2-40B4-BE49-F238E27FC236}">
                <a16:creationId xmlns:a16="http://schemas.microsoft.com/office/drawing/2014/main" id="{E26F3AF7-EE16-40A9-A9BD-B2F374E90D4F}"/>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9BBB9"/>
                </a:solidFill>
                <a:latin typeface="Arial"/>
                <a:ea typeface="Arial"/>
                <a:cs typeface="Arial"/>
              </a:defRPr>
            </a:pPr>
            <a:r>
              <a:rPr sz="1200" b="0">
                <a:solidFill>
                  <a:srgbClr val="A9BBB9"/>
                </a:solidFill>
                <a:latin typeface="Arial"/>
                <a:ea typeface="Arial"/>
                <a:cs typeface="Arial"/>
              </a:rPr>
              <a:t>06</a:t>
            </a:r>
          </a:p>
        </p:txBody>
      </p:sp>
      <p:sp>
        <p:nvSpPr>
          <p:cNvPr id="3" name="pdo-concept-1">
            <a:extLst xmlns:a="http://schemas.openxmlformats.org/drawingml/2006/main">
              <a:ext uri="{FF2B5EF4-FFF2-40B4-BE49-F238E27FC236}">
                <a16:creationId xmlns:a16="http://schemas.microsoft.com/office/drawing/2014/main" id="{7F5B3F96-4AED-4634-9412-0190F831A336}"/>
              </a:ext>
            </a:extLst>
          </p:cNvPr>
          <p:cNvSpPr>
            <a:spLocks xmlns:a="http://schemas.openxmlformats.org/drawingml/2006/main" noGrp="1"/>
          </p:cNvSpPr>
          <p:nvPr/>
        </p:nvSpPr>
        <p:spPr>
          <a:xfrm xmlns:a="http://schemas.openxmlformats.org/drawingml/2006/main">
            <a:off x="666750" y="15335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Pipeline = séquence de nœuds et de règles</a:t>
            </a:r>
          </a:p>
        </p:txBody>
      </p:sp>
      <p:sp>
        <p:nvSpPr>
          <p:cNvPr id="4" name="pdo-concept-2">
            <a:extLst xmlns:a="http://schemas.openxmlformats.org/drawingml/2006/main">
              <a:ext uri="{FF2B5EF4-FFF2-40B4-BE49-F238E27FC236}">
                <a16:creationId xmlns:a16="http://schemas.microsoft.com/office/drawing/2014/main" id="{43C0C5C8-00E1-45A7-91E1-10A4E0B1681D}"/>
              </a:ext>
            </a:extLst>
          </p:cNvPr>
          <p:cNvSpPr>
            <a:spLocks xmlns:a="http://schemas.openxmlformats.org/drawingml/2006/main" noGrp="1"/>
          </p:cNvSpPr>
          <p:nvPr/>
        </p:nvSpPr>
        <p:spPr>
          <a:xfrm xmlns:a="http://schemas.openxmlformats.org/drawingml/2006/main">
            <a:off x="666750" y="27717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Run = exécution sur un clone local et une branche</a:t>
            </a:r>
          </a:p>
        </p:txBody>
      </p:sp>
      <p:sp>
        <p:nvSpPr>
          <p:cNvPr id="5" name="pdo-concept-3">
            <a:extLst xmlns:a="http://schemas.openxmlformats.org/drawingml/2006/main">
              <a:ext uri="{FF2B5EF4-FFF2-40B4-BE49-F238E27FC236}">
                <a16:creationId xmlns:a16="http://schemas.microsoft.com/office/drawing/2014/main" id="{1BC358E9-C0F1-4A0D-9601-B75EF0AB7399}"/>
              </a:ext>
            </a:extLst>
          </p:cNvPr>
          <p:cNvSpPr>
            <a:spLocks xmlns:a="http://schemas.openxmlformats.org/drawingml/2006/main" noGrp="1"/>
          </p:cNvSpPr>
          <p:nvPr/>
        </p:nvSpPr>
        <p:spPr>
          <a:xfrm xmlns:a="http://schemas.openxmlformats.org/drawingml/2006/main">
            <a:off x="666750" y="40290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Preuves = entrées, sorties, terminal, diff</a:t>
            </a:r>
          </a:p>
        </p:txBody>
      </p:sp>
      <p:sp>
        <p:nvSpPr>
          <p:cNvPr id="6" name="pdo-caution">
            <a:extLst xmlns:a="http://schemas.openxmlformats.org/drawingml/2006/main">
              <a:ext uri="{FF2B5EF4-FFF2-40B4-BE49-F238E27FC236}">
                <a16:creationId xmlns:a16="http://schemas.microsoft.com/office/drawing/2014/main" id="{EBFB0741-CA8D-4516-9B45-4188548C35B9}"/>
              </a:ext>
            </a:extLst>
          </p:cNvPr>
          <p:cNvSpPr>
            <a:spLocks xmlns:a="http://schemas.openxmlformats.org/drawingml/2006/main" noGrp="1"/>
          </p:cNvSpPr>
          <p:nvPr/>
        </p:nvSpPr>
        <p:spPr>
          <a:xfrm xmlns:a="http://schemas.openxmlformats.org/drawingml/2006/main">
            <a:off x="666750" y="55435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B8CBC7"/>
                </a:solidFill>
                <a:latin typeface="Arial"/>
                <a:ea typeface="Arial"/>
                <a:cs typeface="Arial"/>
              </a:defRPr>
            </a:pPr>
            <a:r>
              <a:rPr sz="1575" b="0">
                <a:solidFill>
                  <a:srgbClr val="B8CBC7"/>
                </a:solidFill>
                <a:latin typeface="Arial"/>
                <a:ea typeface="Arial"/>
                <a:cs typeface="Arial"/>
              </a:rPr>
              <a:t>PDSF et PDO sont complémentaires. Aucun des deux n’installe l’autre automatiquement.</a:t>
            </a:r>
          </a:p>
        </p:txBody>
      </p:sp>
    </p:spTree>
    <p:extLst>
      <p:ext uri="{BB962C8B-B14F-4D97-AF65-F5344CB8AC3E}">
        <p14:creationId xmlns:p14="http://schemas.microsoft.com/office/powerpoint/2010/main" val="2110471785"/>
      </p:ext>
    </p:extLst>
  </p:cSld>
</p:sld>
</file>

<file path=ppt/slides/slide7.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9" name="title-7">
            <a:extLst xmlns:a="http://schemas.openxmlformats.org/drawingml/2006/main">
              <a:ext uri="{FF2B5EF4-FFF2-40B4-BE49-F238E27FC236}">
                <a16:creationId xmlns:a16="http://schemas.microsoft.com/office/drawing/2014/main" id="{0ADECDF6-6FE6-461D-A59D-FBCB27F43F37}"/>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4202B"/>
                </a:solidFill>
                <a:latin typeface="Arial"/>
                <a:ea typeface="Arial"/>
                <a:cs typeface="Arial"/>
              </a:defRPr>
            </a:pPr>
            <a:r>
              <a:rPr sz="3000" b="1">
                <a:solidFill>
                  <a:srgbClr val="14202B"/>
                </a:solidFill>
                <a:latin typeface="Arial"/>
                <a:ea typeface="Arial"/>
                <a:cs typeface="Arial"/>
              </a:rPr>
              <a:t>Pipeline Radar IA : une revue avec boucle bornée</a:t>
            </a:r>
          </a:p>
        </p:txBody>
      </p:sp>
      <p:sp>
        <p:nvSpPr>
          <p:cNvPr id="2" name="page-7">
            <a:extLst xmlns:a="http://schemas.openxmlformats.org/drawingml/2006/main">
              <a:ext uri="{FF2B5EF4-FFF2-40B4-BE49-F238E27FC236}">
                <a16:creationId xmlns:a16="http://schemas.microsoft.com/office/drawing/2014/main" id="{1BFF744C-0DA9-4D0E-9184-D2794ADE9FD2}"/>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65727B"/>
                </a:solidFill>
                <a:latin typeface="Arial"/>
                <a:ea typeface="Arial"/>
                <a:cs typeface="Arial"/>
              </a:defRPr>
            </a:pPr>
            <a:r>
              <a:rPr sz="1200" b="0">
                <a:solidFill>
                  <a:srgbClr val="65727B"/>
                </a:solidFill>
                <a:latin typeface="Arial"/>
                <a:ea typeface="Arial"/>
                <a:cs typeface="Arial"/>
              </a:rPr>
              <a:t>07</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4c9ce73f92b4055"/>
          <a:stretch xmlns:a="http://schemas.openxmlformats.org/drawingml/2006/main"/>
        </p:blipFill>
        <p:spPr>
          <a:xfrm xmlns:a="http://schemas.openxmlformats.org/drawingml/2006/main">
            <a:off x="590550" y="1917138"/>
            <a:ext cx="11010900" cy="1461624"/>
          </a:xfrm>
          <a:prstGeom xmlns:a="http://schemas.openxmlformats.org/drawingml/2006/main" prst="rect">
            <a:avLst/>
          </a:prstGeom>
        </p:spPr>
      </p:pic>
      <p:sp>
        <p:nvSpPr>
          <p:cNvPr id="4" name="pipeline-read">
            <a:extLst xmlns:a="http://schemas.openxmlformats.org/drawingml/2006/main">
              <a:ext uri="{FF2B5EF4-FFF2-40B4-BE49-F238E27FC236}">
                <a16:creationId xmlns:a16="http://schemas.microsoft.com/office/drawing/2014/main" id="{B07C80A4-46E6-4D5C-A943-9E8AB5B5EE61}"/>
              </a:ext>
            </a:extLst>
          </p:cNvPr>
          <p:cNvSpPr>
            <a:spLocks xmlns:a="http://schemas.openxmlformats.org/drawingml/2006/main" noGrp="1"/>
          </p:cNvSpPr>
          <p:nvPr/>
        </p:nvSpPr>
        <p:spPr>
          <a:xfrm xmlns:a="http://schemas.openxmlformats.org/drawingml/2006/main">
            <a:off x="676275" y="4000500"/>
            <a:ext cx="5057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0B604F"/>
                </a:solidFill>
                <a:latin typeface="Arial"/>
                <a:ea typeface="Arial"/>
                <a:cs typeface="Arial"/>
              </a:defRPr>
            </a:pPr>
            <a:r>
              <a:rPr sz="1800" b="0">
                <a:solidFill>
                  <a:srgbClr val="0B604F"/>
                </a:solidFill>
                <a:latin typeface="Arial"/>
                <a:ea typeface="Arial"/>
                <a:cs typeface="Arial"/>
              </a:rPr>
              <a:t>Lire le ticket</a:t>
            </a:r>
          </a:p>
          <a:p xmlns:a="http://schemas.openxmlformats.org/drawingml/2006/main">
            <a:pPr algn="l">
              <a:defRPr sz="1800" b="0">
                <a:solidFill>
                  <a:srgbClr val="0B604F"/>
                </a:solidFill>
                <a:latin typeface="Arial"/>
                <a:ea typeface="Arial"/>
                <a:cs typeface="Arial"/>
              </a:defRPr>
            </a:pPr>
            <a:r>
              <a:rPr sz="1800" b="0">
                <a:solidFill>
                  <a:srgbClr val="0B604F"/>
                </a:solidFill>
                <a:latin typeface="Arial"/>
                <a:ea typeface="Arial"/>
                <a:cs typeface="Arial"/>
              </a:rPr>
              <a:t>Résumer l’issue et ses critères</a:t>
            </a:r>
          </a:p>
        </p:txBody>
      </p:sp>
      <p:sp>
        <p:nvSpPr>
          <p:cNvPr id="5" name="pipeline-build">
            <a:extLst xmlns:a="http://schemas.openxmlformats.org/drawingml/2006/main">
              <a:ext uri="{FF2B5EF4-FFF2-40B4-BE49-F238E27FC236}">
                <a16:creationId xmlns:a16="http://schemas.microsoft.com/office/drawing/2014/main" id="{B9F38CEC-B84D-4250-AB0B-C822AB3532A0}"/>
              </a:ext>
            </a:extLst>
          </p:cNvPr>
          <p:cNvSpPr>
            <a:spLocks xmlns:a="http://schemas.openxmlformats.org/drawingml/2006/main" noGrp="1"/>
          </p:cNvSpPr>
          <p:nvPr/>
        </p:nvSpPr>
        <p:spPr>
          <a:xfrm xmlns:a="http://schemas.openxmlformats.org/drawingml/2006/main">
            <a:off x="6191250" y="400050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14202B"/>
                </a:solidFill>
                <a:latin typeface="Arial"/>
                <a:ea typeface="Arial"/>
                <a:cs typeface="Arial"/>
              </a:defRPr>
            </a:pPr>
            <a:r>
              <a:rPr sz="1800" b="0">
                <a:solidFill>
                  <a:srgbClr val="14202B"/>
                </a:solidFill>
                <a:latin typeface="Arial"/>
                <a:ea typeface="Arial"/>
                <a:cs typeface="Arial"/>
              </a:rPr>
              <a:t>Développer la fonction</a:t>
            </a:r>
          </a:p>
          <a:p xmlns:a="http://schemas.openxmlformats.org/drawingml/2006/main">
            <a:pPr algn="l">
              <a:defRPr sz="1800" b="0">
                <a:solidFill>
                  <a:srgbClr val="14202B"/>
                </a:solidFill>
                <a:latin typeface="Arial"/>
                <a:ea typeface="Arial"/>
                <a:cs typeface="Arial"/>
              </a:defRPr>
            </a:pPr>
            <a:r>
              <a:rPr sz="1800" b="0">
                <a:solidFill>
                  <a:srgbClr val="14202B"/>
                </a:solidFill>
                <a:latin typeface="Arial"/>
                <a:ea typeface="Arial"/>
                <a:cs typeface="Arial"/>
              </a:rPr>
              <a:t>Modifier le code du run</a:t>
            </a:r>
          </a:p>
        </p:txBody>
      </p:sp>
      <p:sp>
        <p:nvSpPr>
          <p:cNvPr id="6" name="pipeline-review">
            <a:extLst xmlns:a="http://schemas.openxmlformats.org/drawingml/2006/main">
              <a:ext uri="{FF2B5EF4-FFF2-40B4-BE49-F238E27FC236}">
                <a16:creationId xmlns:a16="http://schemas.microsoft.com/office/drawing/2014/main" id="{AC4D8C33-B7B4-402F-B23E-E196A76ADC28}"/>
              </a:ext>
            </a:extLst>
          </p:cNvPr>
          <p:cNvSpPr>
            <a:spLocks xmlns:a="http://schemas.openxmlformats.org/drawingml/2006/main" noGrp="1"/>
          </p:cNvSpPr>
          <p:nvPr/>
        </p:nvSpPr>
        <p:spPr>
          <a:xfrm xmlns:a="http://schemas.openxmlformats.org/drawingml/2006/main">
            <a:off x="676275" y="517207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14202B"/>
                </a:solidFill>
                <a:latin typeface="Arial"/>
                <a:ea typeface="Arial"/>
                <a:cs typeface="Arial"/>
              </a:defRPr>
            </a:pPr>
            <a:r>
              <a:rPr sz="1800" b="0">
                <a:solidFill>
                  <a:srgbClr val="14202B"/>
                </a:solidFill>
                <a:latin typeface="Arial"/>
                <a:ea typeface="Arial"/>
                <a:cs typeface="Arial"/>
              </a:rPr>
              <a:t>Vérifier la fonction</a:t>
            </a:r>
          </a:p>
          <a:p xmlns:a="http://schemas.openxmlformats.org/drawingml/2006/main">
            <a:pPr algn="l">
              <a:defRPr sz="1800" b="0">
                <a:solidFill>
                  <a:srgbClr val="14202B"/>
                </a:solidFill>
                <a:latin typeface="Arial"/>
                <a:ea typeface="Arial"/>
                <a:cs typeface="Arial"/>
              </a:defRPr>
            </a:pPr>
            <a:r>
              <a:rPr sz="1800" b="0">
                <a:solidFill>
                  <a:srgbClr val="14202B"/>
                </a:solidFill>
                <a:latin typeface="Arial"/>
                <a:ea typeface="Arial"/>
                <a:cs typeface="Arial"/>
              </a:rPr>
              <a:t>Tests, build et verdict</a:t>
            </a:r>
          </a:p>
        </p:txBody>
      </p:sp>
      <p:sp>
        <p:nvSpPr>
          <p:cNvPr id="7" name="pipeline-brief">
            <a:extLst xmlns:a="http://schemas.openxmlformats.org/drawingml/2006/main">
              <a:ext uri="{FF2B5EF4-FFF2-40B4-BE49-F238E27FC236}">
                <a16:creationId xmlns:a16="http://schemas.microsoft.com/office/drawing/2014/main" id="{AF14579C-CE82-47B9-9C33-53EBADCC3C5E}"/>
              </a:ext>
            </a:extLst>
          </p:cNvPr>
          <p:cNvSpPr>
            <a:spLocks xmlns:a="http://schemas.openxmlformats.org/drawingml/2006/main" noGrp="1"/>
          </p:cNvSpPr>
          <p:nvPr/>
        </p:nvSpPr>
        <p:spPr>
          <a:xfrm xmlns:a="http://schemas.openxmlformats.org/drawingml/2006/main">
            <a:off x="6191250" y="517207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14202B"/>
                </a:solidFill>
                <a:latin typeface="Arial"/>
                <a:ea typeface="Arial"/>
                <a:cs typeface="Arial"/>
              </a:defRPr>
            </a:pPr>
            <a:r>
              <a:rPr sz="1800" b="0">
                <a:solidFill>
                  <a:srgbClr val="14202B"/>
                </a:solidFill>
                <a:latin typeface="Arial"/>
                <a:ea typeface="Arial"/>
                <a:cs typeface="Arial"/>
              </a:rPr>
              <a:t>Brief manager</a:t>
            </a:r>
          </a:p>
          <a:p xmlns:a="http://schemas.openxmlformats.org/drawingml/2006/main">
            <a:pPr algn="l">
              <a:defRPr sz="1800" b="0">
                <a:solidFill>
                  <a:srgbClr val="14202B"/>
                </a:solidFill>
                <a:latin typeface="Arial"/>
                <a:ea typeface="Arial"/>
                <a:cs typeface="Arial"/>
              </a:defRPr>
            </a:pPr>
            <a:r>
              <a:rPr sz="1800" b="0">
                <a:solidFill>
                  <a:srgbClr val="14202B"/>
                </a:solidFill>
                <a:latin typeface="Arial"/>
                <a:ea typeface="Arial"/>
                <a:cs typeface="Arial"/>
              </a:rPr>
              <a:t>Synthèse après verdict pass</a:t>
            </a:r>
          </a:p>
        </p:txBody>
      </p:sp>
      <p:sp>
        <p:nvSpPr>
          <p:cNvPr id="8" name="pipeline-branch">
            <a:extLst xmlns:a="http://schemas.openxmlformats.org/drawingml/2006/main">
              <a:ext uri="{FF2B5EF4-FFF2-40B4-BE49-F238E27FC236}">
                <a16:creationId xmlns:a16="http://schemas.microsoft.com/office/drawing/2014/main" id="{8A104535-E301-4B5B-88E7-E5046E8FC5D6}"/>
              </a:ext>
            </a:extLst>
          </p:cNvPr>
          <p:cNvSpPr>
            <a:spLocks xmlns:a="http://schemas.openxmlformats.org/drawingml/2006/main" noGrp="1"/>
          </p:cNvSpPr>
          <p:nvPr/>
        </p:nvSpPr>
        <p:spPr>
          <a:xfrm xmlns:a="http://schemas.openxmlformats.org/drawingml/2006/main">
            <a:off x="676275" y="6153150"/>
            <a:ext cx="1062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65727B"/>
                </a:solidFill>
                <a:latin typeface="Arial"/>
                <a:ea typeface="Arial"/>
                <a:cs typeface="Arial"/>
              </a:defRPr>
            </a:pPr>
            <a:r>
              <a:rPr sz="1350" b="0">
                <a:solidFill>
                  <a:srgbClr val="65727B"/>
                </a:solidFill>
                <a:latin typeface="Arial"/>
                <a:ea typeface="Arial"/>
                <a:cs typeface="Arial"/>
              </a:rPr>
              <a:t>Si échec : retour vers le développement, 3 passages maximum.</a:t>
            </a:r>
          </a:p>
        </p:txBody>
      </p:sp>
    </p:spTree>
    <p:extLst>
      <p:ext uri="{BB962C8B-B14F-4D97-AF65-F5344CB8AC3E}">
        <p14:creationId xmlns:p14="http://schemas.microsoft.com/office/powerpoint/2010/main" val="402333503"/>
      </p:ext>
    </p:extLst>
  </p:cSld>
</p:sld>
</file>

<file path=ppt/slides/slide8.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6" name="title-8">
            <a:extLst xmlns:a="http://schemas.openxmlformats.org/drawingml/2006/main">
              <a:ext uri="{FF2B5EF4-FFF2-40B4-BE49-F238E27FC236}">
                <a16:creationId xmlns:a16="http://schemas.microsoft.com/office/drawing/2014/main" id="{2B6BCC71-9F8D-4BC4-8DDB-85C264E64B78}"/>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4202B"/>
                </a:solidFill>
                <a:latin typeface="Arial"/>
                <a:ea typeface="Arial"/>
                <a:cs typeface="Arial"/>
              </a:defRPr>
            </a:pPr>
            <a:r>
              <a:rPr sz="3000" b="1">
                <a:solidFill>
                  <a:srgbClr val="14202B"/>
                </a:solidFill>
                <a:latin typeface="Arial"/>
                <a:ea typeface="Arial"/>
                <a:cs typeface="Arial"/>
              </a:rPr>
              <a:t>Nouveau run : cinq choix à vérifier</a:t>
            </a:r>
          </a:p>
        </p:txBody>
      </p:sp>
      <p:sp>
        <p:nvSpPr>
          <p:cNvPr id="2" name="page-8">
            <a:extLst xmlns:a="http://schemas.openxmlformats.org/drawingml/2006/main">
              <a:ext uri="{FF2B5EF4-FFF2-40B4-BE49-F238E27FC236}">
                <a16:creationId xmlns:a16="http://schemas.microsoft.com/office/drawing/2014/main" id="{DA8AFEA5-E8C0-4B94-8890-13B93B0526A0}"/>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65727B"/>
                </a:solidFill>
                <a:latin typeface="Arial"/>
                <a:ea typeface="Arial"/>
                <a:cs typeface="Arial"/>
              </a:defRPr>
            </a:pPr>
            <a:r>
              <a:rPr sz="1200" b="0">
                <a:solidFill>
                  <a:srgbClr val="65727B"/>
                </a:solidFill>
                <a:latin typeface="Arial"/>
                <a:ea typeface="Arial"/>
                <a:cs typeface="Arial"/>
              </a:rPr>
              <a:t>08</a:t>
            </a:r>
          </a:p>
        </p:txBody>
      </p:sp>
      <p:sp>
        <p:nvSpPr>
          <p:cNvPr id="3" name="run-choices">
            <a:extLst xmlns:a="http://schemas.openxmlformats.org/drawingml/2006/main">
              <a:ext uri="{FF2B5EF4-FFF2-40B4-BE49-F238E27FC236}">
                <a16:creationId xmlns:a16="http://schemas.microsoft.com/office/drawing/2014/main" id="{64CE8956-C581-46E8-A6DA-20F65D75E832}"/>
              </a:ext>
            </a:extLst>
          </p:cNvPr>
          <p:cNvSpPr>
            <a:spLocks xmlns:a="http://schemas.openxmlformats.org/drawingml/2006/main" noGrp="1"/>
          </p:cNvSpPr>
          <p:nvPr/>
        </p:nvSpPr>
        <p:spPr>
          <a:xfrm xmlns:a="http://schemas.openxmlformats.org/drawingml/2006/main">
            <a:off x="666750" y="1504950"/>
            <a:ext cx="5095875"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14202B"/>
                </a:solidFill>
                <a:latin typeface="Arial"/>
                <a:ea typeface="Arial"/>
                <a:cs typeface="Arial"/>
              </a:defRPr>
            </a:pPr>
            <a:r>
              <a:rPr sz="2025" b="1">
                <a:solidFill>
                  <a:srgbClr val="14202B"/>
                </a:solidFill>
                <a:latin typeface="Arial"/>
                <a:ea typeface="Arial"/>
                <a:cs typeface="Arial"/>
              </a:rPr>
              <a:t>1  Dépôt local Ubuntu</a:t>
            </a:r>
          </a:p>
          <a:p xmlns:a="http://schemas.openxmlformats.org/drawingml/2006/main">
            <a:pPr algn="l">
              <a:defRPr sz="2025" b="1">
                <a:solidFill>
                  <a:srgbClr val="14202B"/>
                </a:solidFill>
                <a:latin typeface="Arial"/>
                <a:ea typeface="Arial"/>
                <a:cs typeface="Arial"/>
              </a:defRPr>
            </a:pPr>
            <a:r>
              <a:rPr sz="2025" b="1">
                <a:solidFill>
                  <a:srgbClr val="14202B"/>
                </a:solidFill>
                <a:latin typeface="Arial"/>
                <a:ea typeface="Arial"/>
                <a:cs typeface="Arial"/>
              </a:rPr>
              <a:t>2  Branche source</a:t>
            </a:r>
          </a:p>
          <a:p xmlns:a="http://schemas.openxmlformats.org/drawingml/2006/main">
            <a:pPr algn="l">
              <a:defRPr sz="2025" b="1">
                <a:solidFill>
                  <a:srgbClr val="14202B"/>
                </a:solidFill>
                <a:latin typeface="Arial"/>
                <a:ea typeface="Arial"/>
                <a:cs typeface="Arial"/>
              </a:defRPr>
            </a:pPr>
            <a:r>
              <a:rPr sz="2025" b="1">
                <a:solidFill>
                  <a:srgbClr val="14202B"/>
                </a:solidFill>
                <a:latin typeface="Arial"/>
                <a:ea typeface="Arial"/>
                <a:cs typeface="Arial"/>
              </a:rPr>
              <a:t>3  Pipeline atelier-radar-ia</a:t>
            </a:r>
          </a:p>
          <a:p xmlns:a="http://schemas.openxmlformats.org/drawingml/2006/main">
            <a:pPr algn="l">
              <a:defRPr sz="2025" b="1">
                <a:solidFill>
                  <a:srgbClr val="14202B"/>
                </a:solidFill>
                <a:latin typeface="Arial"/>
                <a:ea typeface="Arial"/>
                <a:cs typeface="Arial"/>
              </a:defRPr>
            </a:pPr>
            <a:r>
              <a:rPr sz="2025" b="1">
                <a:solidFill>
                  <a:srgbClr val="14202B"/>
                </a:solidFill>
                <a:latin typeface="Arial"/>
                <a:ea typeface="Arial"/>
                <a:cs typeface="Arial"/>
              </a:rPr>
              <a:t>4  Agent Claude configuré</a:t>
            </a:r>
          </a:p>
          <a:p xmlns:a="http://schemas.openxmlformats.org/drawingml/2006/main">
            <a:pPr algn="l">
              <a:defRPr sz="2025" b="1">
                <a:solidFill>
                  <a:srgbClr val="14202B"/>
                </a:solidFill>
                <a:latin typeface="Arial"/>
                <a:ea typeface="Arial"/>
                <a:cs typeface="Arial"/>
              </a:defRPr>
            </a:pPr>
            <a:r>
              <a:rPr sz="2025" b="1">
                <a:solidFill>
                  <a:srgbClr val="14202B"/>
                </a:solidFill>
                <a:latin typeface="Arial"/>
                <a:ea typeface="Arial"/>
                <a:cs typeface="Arial"/>
              </a:rPr>
              <a:t>5  Prompt avec l’URL de l’issue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d142b3d180c42e1"/>
          <a:stretch xmlns:a="http://schemas.openxmlformats.org/drawingml/2006/main"/>
        </p:blipFill>
        <p:spPr>
          <a:xfrm xmlns:a="http://schemas.openxmlformats.org/drawingml/2006/main">
            <a:off x="7603627" y="1304925"/>
            <a:ext cx="2490196" cy="4762500"/>
          </a:xfrm>
          <a:prstGeom xmlns:a="http://schemas.openxmlformats.org/drawingml/2006/main" prst="rect">
            <a:avLst/>
          </a:prstGeom>
        </p:spPr>
      </p:pic>
      <p:sp>
        <p:nvSpPr>
          <p:cNvPr id="5" name="run-not-link">
            <a:extLst xmlns:a="http://schemas.openxmlformats.org/drawingml/2006/main">
              <a:ext uri="{FF2B5EF4-FFF2-40B4-BE49-F238E27FC236}">
                <a16:creationId xmlns:a16="http://schemas.microsoft.com/office/drawing/2014/main" id="{6236C464-6562-4B62-9C8E-4C2223594C91}"/>
              </a:ext>
            </a:extLst>
          </p:cNvPr>
          <p:cNvSpPr>
            <a:spLocks xmlns:a="http://schemas.openxmlformats.org/drawingml/2006/main" noGrp="1"/>
          </p:cNvSpPr>
          <p:nvPr/>
        </p:nvSpPr>
        <p:spPr>
          <a:xfrm xmlns:a="http://schemas.openxmlformats.org/drawingml/2006/main">
            <a:off x="647700" y="59245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B44734"/>
                </a:solidFill>
                <a:latin typeface="Arial"/>
                <a:ea typeface="Arial"/>
                <a:cs typeface="Arial"/>
              </a:defRPr>
            </a:pPr>
            <a:r>
              <a:rPr sz="1575" b="0">
                <a:solidFill>
                  <a:srgbClr val="B44734"/>
                </a:solidFill>
                <a:latin typeface="Arial"/>
                <a:ea typeface="Arial"/>
                <a:cs typeface="Arial"/>
              </a:rPr>
              <a:t>PDO reçoit un chemin de clone local, pas l’URL du dépôt GitHub.</a:t>
            </a:r>
          </a:p>
        </p:txBody>
      </p:sp>
    </p:spTree>
    <p:extLst>
      <p:ext uri="{BB962C8B-B14F-4D97-AF65-F5344CB8AC3E}">
        <p14:creationId xmlns:p14="http://schemas.microsoft.com/office/powerpoint/2010/main" val="608613532"/>
      </p:ext>
    </p:extLst>
  </p:cSld>
</p:sld>
</file>

<file path=ppt/slides/slide9.xml><?xml version="1.0" encoding="utf-8"?>
<p:sld xmlns:p="http://schemas.openxmlformats.org/presentationml/2006/main">
  <p:cSld>
    <p:bg>
      <p:bgPr>
        <a:solidFill xmlns:a="http://schemas.openxmlformats.org/drawingml/2006/main">
          <a:srgbClr val="10212B"/>
        </a:solidFill>
      </p:bgPr>
    </p:bg>
    <p:spTree>
      <p:nvGrpSpPr>
        <p:cNvPr id="1" name=""/>
        <p:cNvGrpSpPr/>
        <p:nvPr/>
      </p:nvGrpSpPr>
      <p:grpSpPr>
        <a:xfrm xmlns:a="http://schemas.openxmlformats.org/drawingml/2006/main"/>
      </p:grpSpPr>
      <p:sp>
        <p:nvSpPr>
          <p:cNvPr id="7" name="title-9">
            <a:extLst xmlns:a="http://schemas.openxmlformats.org/drawingml/2006/main">
              <a:ext uri="{FF2B5EF4-FFF2-40B4-BE49-F238E27FC236}">
                <a16:creationId xmlns:a16="http://schemas.microsoft.com/office/drawing/2014/main" id="{358B8F77-F6D6-4A3A-972E-C31C665163BC}"/>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Lancement en direct, inspection sur un run terminé</a:t>
            </a:r>
          </a:p>
        </p:txBody>
      </p:sp>
      <p:sp>
        <p:nvSpPr>
          <p:cNvPr id="2" name="page-9">
            <a:extLst xmlns:a="http://schemas.openxmlformats.org/drawingml/2006/main">
              <a:ext uri="{FF2B5EF4-FFF2-40B4-BE49-F238E27FC236}">
                <a16:creationId xmlns:a16="http://schemas.microsoft.com/office/drawing/2014/main" id="{C155A526-661A-4CC2-A1FD-623815625F9B}"/>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9BBB9"/>
                </a:solidFill>
                <a:latin typeface="Arial"/>
                <a:ea typeface="Arial"/>
                <a:cs typeface="Arial"/>
              </a:defRPr>
            </a:pPr>
            <a:r>
              <a:rPr sz="1200" b="0">
                <a:solidFill>
                  <a:srgbClr val="A9BBB9"/>
                </a:solidFill>
                <a:latin typeface="Arial"/>
                <a:ea typeface="Arial"/>
                <a:cs typeface="Arial"/>
              </a:rPr>
              <a:t>09</a:t>
            </a:r>
          </a:p>
        </p:txBody>
      </p:sp>
      <p:sp>
        <p:nvSpPr>
          <p:cNvPr id="3" name="live-launch">
            <a:extLst xmlns:a="http://schemas.openxmlformats.org/drawingml/2006/main">
              <a:ext uri="{FF2B5EF4-FFF2-40B4-BE49-F238E27FC236}">
                <a16:creationId xmlns:a16="http://schemas.microsoft.com/office/drawing/2014/main" id="{C37ACC01-8927-4AC7-B4F2-2F12E2DCE349}"/>
              </a:ext>
            </a:extLst>
          </p:cNvPr>
          <p:cNvSpPr>
            <a:spLocks xmlns:a="http://schemas.openxmlformats.org/drawingml/2006/main" noGrp="1"/>
          </p:cNvSpPr>
          <p:nvPr/>
        </p:nvSpPr>
        <p:spPr>
          <a:xfrm xmlns:a="http://schemas.openxmlformats.org/drawingml/2006/main">
            <a:off x="666750" y="166687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Launch une fois</a:t>
            </a:r>
          </a:p>
        </p:txBody>
      </p:sp>
      <p:sp>
        <p:nvSpPr>
          <p:cNvPr id="4" name="live-id">
            <a:extLst xmlns:a="http://schemas.openxmlformats.org/drawingml/2006/main">
              <a:ext uri="{FF2B5EF4-FFF2-40B4-BE49-F238E27FC236}">
                <a16:creationId xmlns:a16="http://schemas.microsoft.com/office/drawing/2014/main" id="{7DB255EE-4A32-4E01-B0CA-A3C6B39073C3}"/>
              </a:ext>
            </a:extLst>
          </p:cNvPr>
          <p:cNvSpPr>
            <a:spLocks xmlns:a="http://schemas.openxmlformats.org/drawingml/2006/main" noGrp="1"/>
          </p:cNvSpPr>
          <p:nvPr/>
        </p:nvSpPr>
        <p:spPr>
          <a:xfrm xmlns:a="http://schemas.openxmlformats.org/drawingml/2006/main">
            <a:off x="666750" y="25431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B8CBC7"/>
                </a:solidFill>
                <a:latin typeface="Arial"/>
                <a:ea typeface="Arial"/>
                <a:cs typeface="Arial"/>
              </a:defRPr>
            </a:pPr>
            <a:r>
              <a:rPr sz="1950" b="0">
                <a:solidFill>
                  <a:srgbClr val="B8CBC7"/>
                </a:solidFill>
                <a:latin typeface="Arial"/>
                <a:ea typeface="Arial"/>
                <a:cs typeface="Arial"/>
              </a:rPr>
              <a:t>Noter l’ID affiché par PDO lundi</a:t>
            </a:r>
          </a:p>
        </p:txBody>
      </p:sp>
      <p:sp>
        <p:nvSpPr>
          <p:cNvPr id="5" name="prepared-label">
            <a:extLst xmlns:a="http://schemas.openxmlformats.org/drawingml/2006/main">
              <a:ext uri="{FF2B5EF4-FFF2-40B4-BE49-F238E27FC236}">
                <a16:creationId xmlns:a16="http://schemas.microsoft.com/office/drawing/2014/main" id="{6C763DDA-105F-4A49-A126-3FFBD66FE65C}"/>
              </a:ext>
            </a:extLst>
          </p:cNvPr>
          <p:cNvSpPr>
            <a:spLocks xmlns:a="http://schemas.openxmlformats.org/drawingml/2006/main" noGrp="1"/>
          </p:cNvSpPr>
          <p:nvPr/>
        </p:nvSpPr>
        <p:spPr>
          <a:xfrm xmlns:a="http://schemas.openxmlformats.org/drawingml/2006/main">
            <a:off x="666750" y="38671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Run préparé et inspecté</a:t>
            </a:r>
          </a:p>
        </p:txBody>
      </p:sp>
      <p:sp>
        <p:nvSpPr>
          <p:cNvPr id="6" name="prepared-id">
            <a:extLst xmlns:a="http://schemas.openxmlformats.org/drawingml/2006/main">
              <a:ext uri="{FF2B5EF4-FFF2-40B4-BE49-F238E27FC236}">
                <a16:creationId xmlns:a16="http://schemas.microsoft.com/office/drawing/2014/main" id="{0360A372-8AF6-4D70-ABD9-3F2D13C1D8F0}"/>
              </a:ext>
            </a:extLst>
          </p:cNvPr>
          <p:cNvSpPr>
            <a:spLocks xmlns:a="http://schemas.openxmlformats.org/drawingml/2006/main" noGrp="1"/>
          </p:cNvSpPr>
          <p:nvPr/>
        </p:nvSpPr>
        <p:spPr>
          <a:xfrm xmlns:a="http://schemas.openxmlformats.org/drawingml/2006/main">
            <a:off x="666750" y="46577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8BE0C9"/>
                </a:solidFill>
                <a:latin typeface="Arial"/>
                <a:ea typeface="Arial"/>
                <a:cs typeface="Arial"/>
              </a:defRPr>
            </a:pPr>
            <a:r>
              <a:rPr sz="1950" b="0">
                <a:solidFill>
                  <a:srgbClr val="8BE0C9"/>
                </a:solidFill>
                <a:latin typeface="Arial"/>
                <a:ea typeface="Arial"/>
                <a:cs typeface="Arial"/>
                <a:hlinkClick xmlns:r="http://schemas.openxmlformats.org/officeDocument/2006/relationships" r:id="R262d6b23062848ee"/>
              </a:rPr>
              <a:t>20261001-183530-abd2d8d</a:t>
            </a:r>
          </a:p>
        </p:txBody>
      </p:sp>
    </p:spTree>
    <p:extLst>
      <p:ext uri="{BB962C8B-B14F-4D97-AF65-F5344CB8AC3E}">
        <p14:creationId xmlns:p14="http://schemas.microsoft.com/office/powerpoint/2010/main" val="1643423395"/>
      </p:ext>
    </p:extLst>
  </p:cSld>
</p:sld>
</file>

<file path=ppt/slides/slide10.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6" name="title-10">
            <a:extLst xmlns:a="http://schemas.openxmlformats.org/drawingml/2006/main">
              <a:ext uri="{FF2B5EF4-FFF2-40B4-BE49-F238E27FC236}">
                <a16:creationId xmlns:a16="http://schemas.microsoft.com/office/drawing/2014/main" id="{818A73DA-3B70-471B-95C5-72BDA22BB6D0}"/>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4202B"/>
                </a:solidFill>
                <a:latin typeface="Arial"/>
                <a:ea typeface="Arial"/>
                <a:cs typeface="Arial"/>
              </a:defRPr>
            </a:pPr>
            <a:r>
              <a:rPr sz="3000" b="1">
                <a:solidFill>
                  <a:srgbClr val="14202B"/>
                </a:solidFill>
                <a:latin typeface="Arial"/>
                <a:ea typeface="Arial"/>
                <a:cs typeface="Arial"/>
              </a:rPr>
              <a:t>Inspection : une preuve par nœud</a:t>
            </a:r>
          </a:p>
        </p:txBody>
      </p:sp>
      <p:sp>
        <p:nvSpPr>
          <p:cNvPr id="2" name="page-10">
            <a:extLst xmlns:a="http://schemas.openxmlformats.org/drawingml/2006/main">
              <a:ext uri="{FF2B5EF4-FFF2-40B4-BE49-F238E27FC236}">
                <a16:creationId xmlns:a16="http://schemas.microsoft.com/office/drawing/2014/main" id="{E8E18928-B8DD-4BD3-8994-942908F90AF1}"/>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65727B"/>
                </a:solidFill>
                <a:latin typeface="Arial"/>
                <a:ea typeface="Arial"/>
                <a:cs typeface="Arial"/>
              </a:defRPr>
            </a:pPr>
            <a:r>
              <a:rPr sz="1200" b="0">
                <a:solidFill>
                  <a:srgbClr val="65727B"/>
                </a:solidFill>
                <a:latin typeface="Arial"/>
                <a:ea typeface="Arial"/>
                <a:cs typeface="Arial"/>
              </a:rPr>
              <a:t>10</a:t>
            </a:r>
          </a:p>
        </p:txBody>
      </p:sp>
      <p:sp>
        <p:nvSpPr>
          <p:cNvPr id="3" name="inspect-nodes">
            <a:extLst xmlns:a="http://schemas.openxmlformats.org/drawingml/2006/main">
              <a:ext uri="{FF2B5EF4-FFF2-40B4-BE49-F238E27FC236}">
                <a16:creationId xmlns:a16="http://schemas.microsoft.com/office/drawing/2014/main" id="{C87D3B18-81C4-4BF6-BC58-3993AEBA5DCE}"/>
              </a:ext>
            </a:extLst>
          </p:cNvPr>
          <p:cNvSpPr>
            <a:spLocks xmlns:a="http://schemas.openxmlformats.org/drawingml/2006/main" noGrp="1"/>
          </p:cNvSpPr>
          <p:nvPr/>
        </p:nvSpPr>
        <p:spPr>
          <a:xfrm xmlns:a="http://schemas.openxmlformats.org/drawingml/2006/main">
            <a:off x="666750" y="1447800"/>
            <a:ext cx="5124450" cy="413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14202B"/>
                </a:solidFill>
                <a:latin typeface="Arial"/>
                <a:ea typeface="Arial"/>
                <a:cs typeface="Arial"/>
              </a:defRPr>
            </a:pPr>
            <a:r>
              <a:rPr sz="1725" b="0">
                <a:solidFill>
                  <a:srgbClr val="14202B"/>
                </a:solidFill>
                <a:latin typeface="Arial"/>
                <a:ea typeface="Arial"/>
                <a:cs typeface="Arial"/>
              </a:rPr>
              <a:t>Lire le ticket</a:t>
            </a:r>
          </a:p>
          <a:p xmlns:a="http://schemas.openxmlformats.org/drawingml/2006/main">
            <a:pPr algn="l">
              <a:defRPr sz="1725" b="0">
                <a:solidFill>
                  <a:srgbClr val="14202B"/>
                </a:solidFill>
                <a:latin typeface="Arial"/>
                <a:ea typeface="Arial"/>
                <a:cs typeface="Arial"/>
              </a:defRPr>
            </a:pPr>
            <a:r>
              <a:rPr sz="1725" b="0">
                <a:solidFill>
                  <a:srgbClr val="14202B"/>
                </a:solidFill>
                <a:latin typeface="Arial"/>
                <a:ea typeface="Arial"/>
                <a:cs typeface="Arial"/>
              </a:rPr>
              <a:t>Brief issu de l’issue #1</a:t>
            </a:r>
          </a:p>
          <a:p xmlns:a="http://schemas.openxmlformats.org/drawingml/2006/main">
            <a:r>
              <a:t/>
            </a:r>
          </a:p>
          <a:p xmlns:a="http://schemas.openxmlformats.org/drawingml/2006/main">
            <a:pPr algn="l">
              <a:defRPr sz="1725" b="0">
                <a:solidFill>
                  <a:srgbClr val="14202B"/>
                </a:solidFill>
                <a:latin typeface="Arial"/>
                <a:ea typeface="Arial"/>
                <a:cs typeface="Arial"/>
              </a:defRPr>
            </a:pPr>
            <a:r>
              <a:rPr sz="1725" b="0">
                <a:solidFill>
                  <a:srgbClr val="14202B"/>
                </a:solidFill>
                <a:latin typeface="Arial"/>
                <a:ea typeface="Arial"/>
                <a:cs typeface="Arial"/>
              </a:rPr>
              <a:t>Développer la fonction</a:t>
            </a:r>
          </a:p>
          <a:p xmlns:a="http://schemas.openxmlformats.org/drawingml/2006/main">
            <a:pPr algn="l">
              <a:defRPr sz="1725" b="0">
                <a:solidFill>
                  <a:srgbClr val="14202B"/>
                </a:solidFill>
                <a:latin typeface="Arial"/>
                <a:ea typeface="Arial"/>
                <a:cs typeface="Arial"/>
              </a:defRPr>
            </a:pPr>
            <a:r>
              <a:rPr sz="1725" b="0">
                <a:solidFill>
                  <a:srgbClr val="14202B"/>
                </a:solidFill>
                <a:latin typeface="Arial"/>
                <a:ea typeface="Arial"/>
                <a:cs typeface="Arial"/>
              </a:rPr>
              <a:t>Changements dans le worktree du run</a:t>
            </a:r>
          </a:p>
          <a:p xmlns:a="http://schemas.openxmlformats.org/drawingml/2006/main">
            <a:r>
              <a:t/>
            </a:r>
          </a:p>
          <a:p xmlns:a="http://schemas.openxmlformats.org/drawingml/2006/main">
            <a:pPr algn="l">
              <a:defRPr sz="1725" b="0">
                <a:solidFill>
                  <a:srgbClr val="14202B"/>
                </a:solidFill>
                <a:latin typeface="Arial"/>
                <a:ea typeface="Arial"/>
                <a:cs typeface="Arial"/>
              </a:defRPr>
            </a:pPr>
            <a:r>
              <a:rPr sz="1725" b="0">
                <a:solidFill>
                  <a:srgbClr val="14202B"/>
                </a:solidFill>
                <a:latin typeface="Arial"/>
                <a:ea typeface="Arial"/>
                <a:cs typeface="Arial"/>
              </a:rPr>
              <a:t>Vérifier la fonction</a:t>
            </a:r>
          </a:p>
          <a:p xmlns:a="http://schemas.openxmlformats.org/drawingml/2006/main">
            <a:pPr algn="l">
              <a:defRPr sz="1725" b="0">
                <a:solidFill>
                  <a:srgbClr val="14202B"/>
                </a:solidFill>
                <a:latin typeface="Arial"/>
                <a:ea typeface="Arial"/>
                <a:cs typeface="Arial"/>
              </a:defRPr>
            </a:pPr>
            <a:r>
              <a:rPr sz="1725" b="0">
                <a:solidFill>
                  <a:srgbClr val="14202B"/>
                </a:solidFill>
                <a:latin typeface="Arial"/>
                <a:ea typeface="Arial"/>
                <a:cs typeface="Arial"/>
              </a:rPr>
              <a:t>12/12 tests, build et verdict pass</a:t>
            </a:r>
          </a:p>
          <a:p xmlns:a="http://schemas.openxmlformats.org/drawingml/2006/main">
            <a:r>
              <a:t/>
            </a:r>
          </a:p>
          <a:p xmlns:a="http://schemas.openxmlformats.org/drawingml/2006/main">
            <a:pPr algn="l">
              <a:defRPr sz="1725" b="0">
                <a:solidFill>
                  <a:srgbClr val="14202B"/>
                </a:solidFill>
                <a:latin typeface="Arial"/>
                <a:ea typeface="Arial"/>
                <a:cs typeface="Arial"/>
              </a:defRPr>
            </a:pPr>
            <a:r>
              <a:rPr sz="1725" b="0">
                <a:solidFill>
                  <a:srgbClr val="14202B"/>
                </a:solidFill>
                <a:latin typeface="Arial"/>
                <a:ea typeface="Arial"/>
                <a:cs typeface="Arial"/>
              </a:rPr>
              <a:t>Brief manager</a:t>
            </a:r>
          </a:p>
          <a:p xmlns:a="http://schemas.openxmlformats.org/drawingml/2006/main">
            <a:pPr algn="l">
              <a:defRPr sz="1725" b="0">
                <a:solidFill>
                  <a:srgbClr val="14202B"/>
                </a:solidFill>
                <a:latin typeface="Arial"/>
                <a:ea typeface="Arial"/>
                <a:cs typeface="Arial"/>
              </a:defRPr>
            </a:pPr>
            <a:r>
              <a:rPr sz="1725" b="0">
                <a:solidFill>
                  <a:srgbClr val="14202B"/>
                </a:solidFill>
                <a:latin typeface="Arial"/>
                <a:ea typeface="Arial"/>
                <a:cs typeface="Arial"/>
              </a:rPr>
              <a:t>Synthèse en français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4447238f155497c"/>
          <a:stretch xmlns:a="http://schemas.openxmlformats.org/drawingml/2006/main"/>
        </p:blipFill>
        <p:spPr>
          <a:xfrm xmlns:a="http://schemas.openxmlformats.org/drawingml/2006/main">
            <a:off x="6966083" y="1438275"/>
            <a:ext cx="3660509" cy="4276725"/>
          </a:xfrm>
          <a:prstGeom xmlns:a="http://schemas.openxmlformats.org/drawingml/2006/main" prst="rect">
            <a:avLst/>
          </a:prstGeom>
        </p:spPr>
      </p:pic>
      <p:sp>
        <p:nvSpPr>
          <p:cNvPr id="5" name="inspect-surfaces">
            <a:extLst xmlns:a="http://schemas.openxmlformats.org/drawingml/2006/main">
              <a:ext uri="{FF2B5EF4-FFF2-40B4-BE49-F238E27FC236}">
                <a16:creationId xmlns:a16="http://schemas.microsoft.com/office/drawing/2014/main" id="{00B58A7B-39CD-4DAD-A95E-75FFAA925118}"/>
              </a:ext>
            </a:extLst>
          </p:cNvPr>
          <p:cNvSpPr>
            <a:spLocks xmlns:a="http://schemas.openxmlformats.org/drawingml/2006/main" noGrp="1"/>
          </p:cNvSpPr>
          <p:nvPr/>
        </p:nvSpPr>
        <p:spPr>
          <a:xfrm xmlns:a="http://schemas.openxmlformats.org/drawingml/2006/main">
            <a:off x="666750" y="6076950"/>
            <a:ext cx="10896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65727B"/>
                </a:solidFill>
                <a:latin typeface="Arial"/>
                <a:ea typeface="Arial"/>
                <a:cs typeface="Arial"/>
              </a:defRPr>
            </a:pPr>
            <a:r>
              <a:rPr sz="1425" b="0">
                <a:solidFill>
                  <a:srgbClr val="65727B"/>
                </a:solidFill>
                <a:latin typeface="Arial"/>
                <a:ea typeface="Arial"/>
                <a:cs typeface="Arial"/>
              </a:rPr>
              <a:t>Contrôles : Outputs, Terminal, Repositories, Diff et YAML</a:t>
            </a:r>
          </a:p>
        </p:txBody>
      </p:sp>
    </p:spTree>
    <p:extLst>
      <p:ext uri="{BB962C8B-B14F-4D97-AF65-F5344CB8AC3E}">
        <p14:creationId xmlns:p14="http://schemas.microsoft.com/office/powerpoint/2010/main" val="1918578286"/>
      </p:ext>
    </p:extLst>
  </p:cSld>
</p:sld>
</file>

<file path=ppt/slides/slide11.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5" name="title-11">
            <a:extLst xmlns:a="http://schemas.openxmlformats.org/drawingml/2006/main">
              <a:ext uri="{FF2B5EF4-FFF2-40B4-BE49-F238E27FC236}">
                <a16:creationId xmlns:a16="http://schemas.microsoft.com/office/drawing/2014/main" id="{763EA0DD-D09B-457B-9CF3-2863B0DC5B4A}"/>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4202B"/>
                </a:solidFill>
                <a:latin typeface="Arial"/>
                <a:ea typeface="Arial"/>
                <a:cs typeface="Arial"/>
              </a:defRPr>
            </a:pPr>
            <a:r>
              <a:rPr sz="3000" b="1">
                <a:solidFill>
                  <a:srgbClr val="14202B"/>
                </a:solidFill>
                <a:latin typeface="Arial"/>
                <a:ea typeface="Arial"/>
                <a:cs typeface="Arial"/>
              </a:rPr>
              <a:t>Résultat métier : une note partageable</a:t>
            </a:r>
          </a:p>
        </p:txBody>
      </p:sp>
      <p:sp>
        <p:nvSpPr>
          <p:cNvPr id="2" name="page-11">
            <a:extLst xmlns:a="http://schemas.openxmlformats.org/drawingml/2006/main">
              <a:ext uri="{FF2B5EF4-FFF2-40B4-BE49-F238E27FC236}">
                <a16:creationId xmlns:a16="http://schemas.microsoft.com/office/drawing/2014/main" id="{298AB28F-395E-430D-9B3F-6F181BB1D467}"/>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65727B"/>
                </a:solidFill>
                <a:latin typeface="Arial"/>
                <a:ea typeface="Arial"/>
                <a:cs typeface="Arial"/>
              </a:defRPr>
            </a:pPr>
            <a:r>
              <a:rPr sz="1200" b="0">
                <a:solidFill>
                  <a:srgbClr val="65727B"/>
                </a:solidFill>
                <a:latin typeface="Arial"/>
                <a:ea typeface="Arial"/>
                <a:cs typeface="Arial"/>
              </a:rPr>
              <a:t>11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2c0f26e213940d6"/>
          <a:stretch xmlns:a="http://schemas.openxmlformats.org/drawingml/2006/main"/>
        </p:blipFill>
        <p:spPr>
          <a:xfrm xmlns:a="http://schemas.openxmlformats.org/drawingml/2006/main">
            <a:off x="1382302" y="1323975"/>
            <a:ext cx="9427396" cy="4857750"/>
          </a:xfrm>
          <a:prstGeom xmlns:a="http://schemas.openxmlformats.org/drawingml/2006/main" prst="rect">
            <a:avLst/>
          </a:prstGeom>
        </p:spPr>
      </p:pic>
      <p:sp>
        <p:nvSpPr>
          <p:cNvPr id="4" name="after-steps">
            <a:extLst xmlns:a="http://schemas.openxmlformats.org/drawingml/2006/main">
              <a:ext uri="{FF2B5EF4-FFF2-40B4-BE49-F238E27FC236}">
                <a16:creationId xmlns:a16="http://schemas.microsoft.com/office/drawing/2014/main" id="{1F97FD53-0229-4819-8FD6-4B833A5D64DD}"/>
              </a:ext>
            </a:extLst>
          </p:cNvPr>
          <p:cNvSpPr>
            <a:spLocks xmlns:a="http://schemas.openxmlformats.org/drawingml/2006/main" noGrp="1"/>
          </p:cNvSpPr>
          <p:nvPr/>
        </p:nvSpPr>
        <p:spPr>
          <a:xfrm xmlns:a="http://schemas.openxmlformats.org/drawingml/2006/main">
            <a:off x="809625" y="61817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0B604F"/>
                </a:solidFill>
                <a:latin typeface="Arial"/>
                <a:ea typeface="Arial"/>
                <a:cs typeface="Arial"/>
              </a:defRPr>
            </a:pPr>
            <a:r>
              <a:rPr sz="1575" b="1">
                <a:solidFill>
                  <a:srgbClr val="0B604F"/>
                </a:solidFill>
                <a:latin typeface="Arial"/>
                <a:ea typeface="Arial"/>
                <a:cs typeface="Arial"/>
              </a:rPr>
              <a:t>Modifier un critère · copier la note · ouvrir l’aperçu PDF</a:t>
            </a:r>
          </a:p>
        </p:txBody>
      </p:sp>
    </p:spTree>
    <p:extLst>
      <p:ext uri="{BB962C8B-B14F-4D97-AF65-F5344CB8AC3E}">
        <p14:creationId xmlns:p14="http://schemas.microsoft.com/office/powerpoint/2010/main" val="1419718285"/>
      </p:ext>
    </p:extLst>
  </p:cSld>
</p:sld>
</file>

<file path=ppt/slides/slide12.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5" name="title-12">
            <a:extLst xmlns:a="http://schemas.openxmlformats.org/drawingml/2006/main">
              <a:ext uri="{FF2B5EF4-FFF2-40B4-BE49-F238E27FC236}">
                <a16:creationId xmlns:a16="http://schemas.microsoft.com/office/drawing/2014/main" id="{A01130B5-E980-4A67-A9F8-EDEEBD7E9117}"/>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4202B"/>
                </a:solidFill>
                <a:latin typeface="Arial"/>
                <a:ea typeface="Arial"/>
                <a:cs typeface="Arial"/>
              </a:defRPr>
            </a:pPr>
            <a:r>
              <a:rPr sz="3000" b="1">
                <a:solidFill>
                  <a:srgbClr val="14202B"/>
                </a:solidFill>
                <a:latin typeface="Arial"/>
                <a:ea typeface="Arial"/>
                <a:cs typeface="Arial"/>
              </a:rPr>
              <a:t>La publication reste une décision humaine</a:t>
            </a:r>
          </a:p>
        </p:txBody>
      </p:sp>
      <p:sp>
        <p:nvSpPr>
          <p:cNvPr id="2" name="page-12">
            <a:extLst xmlns:a="http://schemas.openxmlformats.org/drawingml/2006/main">
              <a:ext uri="{FF2B5EF4-FFF2-40B4-BE49-F238E27FC236}">
                <a16:creationId xmlns:a16="http://schemas.microsoft.com/office/drawing/2014/main" id="{36AB6583-5685-43F1-A721-D7EE1D6CAFC3}"/>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65727B"/>
                </a:solidFill>
                <a:latin typeface="Arial"/>
                <a:ea typeface="Arial"/>
                <a:cs typeface="Arial"/>
              </a:defRPr>
            </a:pPr>
            <a:r>
              <a:rPr sz="1200" b="0">
                <a:solidFill>
                  <a:srgbClr val="65727B"/>
                </a:solidFill>
                <a:latin typeface="Arial"/>
                <a:ea typeface="Arial"/>
                <a:cs typeface="Arial"/>
              </a:rPr>
              <a:t>12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7519ea2128447fe"/>
          <a:stretch xmlns:a="http://schemas.openxmlformats.org/drawingml/2006/main"/>
        </p:blipFill>
        <p:spPr>
          <a:xfrm xmlns:a="http://schemas.openxmlformats.org/drawingml/2006/main">
            <a:off x="1947333" y="1323975"/>
            <a:ext cx="8297333" cy="4667250"/>
          </a:xfrm>
          <a:prstGeom xmlns:a="http://schemas.openxmlformats.org/drawingml/2006/main" prst="rect">
            <a:avLst/>
          </a:prstGeom>
        </p:spPr>
      </p:pic>
      <p:sp>
        <p:nvSpPr>
          <p:cNvPr id="4" name="responsibility-note">
            <a:extLst xmlns:a="http://schemas.openxmlformats.org/drawingml/2006/main">
              <a:ext uri="{FF2B5EF4-FFF2-40B4-BE49-F238E27FC236}">
                <a16:creationId xmlns:a16="http://schemas.microsoft.com/office/drawing/2014/main" id="{0789A5F1-7B8B-469B-9B82-BBE8C8D5A804}"/>
              </a:ext>
            </a:extLst>
          </p:cNvPr>
          <p:cNvSpPr>
            <a:spLocks xmlns:a="http://schemas.openxmlformats.org/drawingml/2006/main" noGrp="1"/>
          </p:cNvSpPr>
          <p:nvPr/>
        </p:nvSpPr>
        <p:spPr>
          <a:xfrm xmlns:a="http://schemas.openxmlformats.org/drawingml/2006/main">
            <a:off x="714375" y="6115050"/>
            <a:ext cx="106394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0B604F"/>
                </a:solidFill>
                <a:latin typeface="Arial"/>
                <a:ea typeface="Arial"/>
                <a:cs typeface="Arial"/>
              </a:defRPr>
            </a:pPr>
            <a:r>
              <a:rPr sz="1500" b="0">
                <a:solidFill>
                  <a:srgbClr val="0B604F"/>
                </a:solidFill>
                <a:latin typeface="Arial"/>
                <a:ea typeface="Arial"/>
                <a:cs typeface="Arial"/>
                <a:hlinkClick xmlns:r="http://schemas.openxmlformats.org/officeDocument/2006/relationships" r:id="Ree6a88e9a8414ff4"/>
              </a:rPr>
              <a:t>Capture du 1er octobre : PR #2 en brouillon vers develop</a:t>
            </a:r>
          </a:p>
        </p:txBody>
      </p:sp>
    </p:spTree>
    <p:extLst>
      <p:ext uri="{BB962C8B-B14F-4D97-AF65-F5344CB8AC3E}">
        <p14:creationId xmlns:p14="http://schemas.microsoft.com/office/powerpoint/2010/main" val="1520395000"/>
      </p:ext>
    </p:extLst>
  </p:cSld>
</p:sld>
</file>

<file path=ppt/slides/slide13.xml><?xml version="1.0" encoding="utf-8"?>
<p:sld xmlns:p="http://schemas.openxmlformats.org/presentationml/2006/main">
  <p:cSld>
    <p:bg>
      <p:bgPr>
        <a:solidFill xmlns:a="http://schemas.openxmlformats.org/drawingml/2006/main">
          <a:srgbClr val="10212B"/>
        </a:solidFill>
      </p:bgPr>
    </p:bg>
    <p:spTree>
      <p:nvGrpSpPr>
        <p:cNvPr id="1" name=""/>
        <p:cNvGrpSpPr/>
        <p:nvPr/>
      </p:nvGrpSpPr>
      <p:grpSpPr>
        <a:xfrm xmlns:a="http://schemas.openxmlformats.org/drawingml/2006/main"/>
      </p:grpSpPr>
      <p:sp>
        <p:nvSpPr>
          <p:cNvPr id="9" name="title-13">
            <a:extLst xmlns:a="http://schemas.openxmlformats.org/drawingml/2006/main">
              <a:ext uri="{FF2B5EF4-FFF2-40B4-BE49-F238E27FC236}">
                <a16:creationId xmlns:a16="http://schemas.microsoft.com/office/drawing/2014/main" id="{D60B45C1-6EFF-4EA0-A036-9A2A8DEC8A91}"/>
              </a:ext>
            </a:extLst>
          </p:cNvPr>
          <p:cNvSpPr>
            <a:spLocks xmlns:a="http://schemas.openxmlformats.org/drawingml/2006/main" noGrp="1"/>
          </p:cNvSpPr>
          <p:nvPr/>
        </p:nvSpPr>
        <p:spPr>
          <a:xfrm xmlns:a="http://schemas.openxmlformats.org/drawingml/2006/main">
            <a:off x="59055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Questions et prochain essai</a:t>
            </a:r>
          </a:p>
        </p:txBody>
      </p:sp>
      <p:sp>
        <p:nvSpPr>
          <p:cNvPr id="2" name="page-13">
            <a:extLst xmlns:a="http://schemas.openxmlformats.org/drawingml/2006/main">
              <a:ext uri="{FF2B5EF4-FFF2-40B4-BE49-F238E27FC236}">
                <a16:creationId xmlns:a16="http://schemas.microsoft.com/office/drawing/2014/main" id="{C76F4CC0-68E8-46FC-89C7-5B8DBA65ACB6}"/>
              </a:ext>
            </a:extLst>
          </p:cNvPr>
          <p:cNvSpPr>
            <a:spLocks xmlns:a="http://schemas.openxmlformats.org/drawingml/2006/main" noGrp="1"/>
          </p:cNvSpPr>
          <p:nvPr/>
        </p:nvSpPr>
        <p:spPr>
          <a:xfrm xmlns:a="http://schemas.openxmlformats.org/drawingml/2006/main">
            <a:off x="11239500" y="6362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A9BBB9"/>
                </a:solidFill>
                <a:latin typeface="Arial"/>
                <a:ea typeface="Arial"/>
                <a:cs typeface="Arial"/>
              </a:defRPr>
            </a:pPr>
            <a:r>
              <a:rPr sz="1200" b="0">
                <a:solidFill>
                  <a:srgbClr val="A9BBB9"/>
                </a:solidFill>
                <a:latin typeface="Arial"/>
                <a:ea typeface="Arial"/>
                <a:cs typeface="Arial"/>
              </a:rPr>
              <a:t>13</a:t>
            </a:r>
          </a:p>
        </p:txBody>
      </p:sp>
      <p:sp>
        <p:nvSpPr>
          <p:cNvPr id="3" name="next-prompt">
            <a:extLst xmlns:a="http://schemas.openxmlformats.org/drawingml/2006/main">
              <a:ext uri="{FF2B5EF4-FFF2-40B4-BE49-F238E27FC236}">
                <a16:creationId xmlns:a16="http://schemas.microsoft.com/office/drawing/2014/main" id="{25ECDB11-FFEF-41F5-B57E-B62ADE0934CE}"/>
              </a:ext>
            </a:extLst>
          </p:cNvPr>
          <p:cNvSpPr>
            <a:spLocks xmlns:a="http://schemas.openxmlformats.org/drawingml/2006/main" noGrp="1"/>
          </p:cNvSpPr>
          <p:nvPr/>
        </p:nvSpPr>
        <p:spPr>
          <a:xfrm xmlns:a="http://schemas.openxmlformats.org/drawingml/2006/main">
            <a:off x="666750" y="1466850"/>
            <a:ext cx="10572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FFFFFF"/>
                </a:solidFill>
                <a:latin typeface="Arial"/>
                <a:ea typeface="Arial"/>
                <a:cs typeface="Arial"/>
              </a:defRPr>
            </a:pPr>
            <a:r>
              <a:rPr sz="2475" b="1">
                <a:solidFill>
                  <a:srgbClr val="FFFFFF"/>
                </a:solidFill>
                <a:latin typeface="Arial"/>
                <a:ea typeface="Arial"/>
                <a:cs typeface="Arial"/>
              </a:rPr>
              <a:t>Choisir une petite demande, avec des critères observables et sans donnée sensible.</a:t>
            </a:r>
          </a:p>
        </p:txBody>
      </p:sp>
      <p:sp>
        <p:nvSpPr>
          <p:cNvPr id="4" name="link-repo">
            <a:extLst xmlns:a="http://schemas.openxmlformats.org/drawingml/2006/main">
              <a:ext uri="{FF2B5EF4-FFF2-40B4-BE49-F238E27FC236}">
                <a16:creationId xmlns:a16="http://schemas.microsoft.com/office/drawing/2014/main" id="{2B199EF1-4A99-47B4-B235-4BAD7B95AD5A}"/>
              </a:ext>
            </a:extLst>
          </p:cNvPr>
          <p:cNvSpPr>
            <a:spLocks xmlns:a="http://schemas.openxmlformats.org/drawingml/2006/main" noGrp="1"/>
          </p:cNvSpPr>
          <p:nvPr/>
        </p:nvSpPr>
        <p:spPr>
          <a:xfrm xmlns:a="http://schemas.openxmlformats.org/drawingml/2006/main">
            <a:off x="666750" y="34861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8BE0C9"/>
                </a:solidFill>
                <a:latin typeface="Arial"/>
                <a:ea typeface="Arial"/>
                <a:cs typeface="Arial"/>
              </a:defRPr>
            </a:pPr>
            <a:r>
              <a:rPr sz="1800" b="0">
                <a:solidFill>
                  <a:srgbClr val="8BE0C9"/>
                </a:solidFill>
                <a:latin typeface="Arial"/>
                <a:ea typeface="Arial"/>
                <a:cs typeface="Arial"/>
                <a:hlinkClick xmlns:r="http://schemas.openxmlformats.org/officeDocument/2006/relationships" r:id="R0c16551c478f4953"/>
              </a:rPr>
              <a:t>Dépôt : Radar IA Casablanca</a:t>
            </a:r>
          </a:p>
        </p:txBody>
      </p:sp>
      <p:sp>
        <p:nvSpPr>
          <p:cNvPr id="5" name="link-issue">
            <a:extLst xmlns:a="http://schemas.openxmlformats.org/drawingml/2006/main">
              <a:ext uri="{FF2B5EF4-FFF2-40B4-BE49-F238E27FC236}">
                <a16:creationId xmlns:a16="http://schemas.microsoft.com/office/drawing/2014/main" id="{D427C065-274B-49A5-9434-1029288334E5}"/>
              </a:ext>
            </a:extLst>
          </p:cNvPr>
          <p:cNvSpPr>
            <a:spLocks xmlns:a="http://schemas.openxmlformats.org/drawingml/2006/main" noGrp="1"/>
          </p:cNvSpPr>
          <p:nvPr/>
        </p:nvSpPr>
        <p:spPr>
          <a:xfrm xmlns:a="http://schemas.openxmlformats.org/drawingml/2006/main">
            <a:off x="666750" y="40290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8BE0C9"/>
                </a:solidFill>
                <a:latin typeface="Arial"/>
                <a:ea typeface="Arial"/>
                <a:cs typeface="Arial"/>
              </a:defRPr>
            </a:pPr>
            <a:r>
              <a:rPr sz="1800" b="0">
                <a:solidFill>
                  <a:srgbClr val="8BE0C9"/>
                </a:solidFill>
                <a:latin typeface="Arial"/>
                <a:ea typeface="Arial"/>
                <a:cs typeface="Arial"/>
                <a:hlinkClick xmlns:r="http://schemas.openxmlformats.org/officeDocument/2006/relationships" r:id="R086ffccdcc504e11"/>
              </a:rPr>
              <a:t>Issue #1</a:t>
            </a:r>
          </a:p>
        </p:txBody>
      </p:sp>
      <p:sp>
        <p:nvSpPr>
          <p:cNvPr id="6" name="link-video-product">
            <a:extLst xmlns:a="http://schemas.openxmlformats.org/drawingml/2006/main">
              <a:ext uri="{FF2B5EF4-FFF2-40B4-BE49-F238E27FC236}">
                <a16:creationId xmlns:a16="http://schemas.microsoft.com/office/drawing/2014/main" id="{D4AC0209-57E2-45F4-8C90-4FBF570489C7}"/>
              </a:ext>
            </a:extLst>
          </p:cNvPr>
          <p:cNvSpPr>
            <a:spLocks xmlns:a="http://schemas.openxmlformats.org/drawingml/2006/main" noGrp="1"/>
          </p:cNvSpPr>
          <p:nvPr/>
        </p:nvSpPr>
        <p:spPr>
          <a:xfrm xmlns:a="http://schemas.openxmlformats.org/drawingml/2006/main">
            <a:off x="666750" y="4572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8BE0C9"/>
                </a:solidFill>
                <a:latin typeface="Arial"/>
                <a:ea typeface="Arial"/>
                <a:cs typeface="Arial"/>
              </a:defRPr>
            </a:pPr>
            <a:r>
              <a:rPr sz="1800" b="0">
                <a:solidFill>
                  <a:srgbClr val="8BE0C9"/>
                </a:solidFill>
                <a:latin typeface="Arial"/>
                <a:ea typeface="Arial"/>
                <a:cs typeface="Arial"/>
                <a:hlinkClick xmlns:r="http://schemas.openxmlformats.org/officeDocument/2006/relationships" r:id="Re20cddd5f4164e5d"/>
              </a:rPr>
              <a:t>MP4 : produit et issue GitHub</a:t>
            </a:r>
          </a:p>
        </p:txBody>
      </p:sp>
      <p:sp>
        <p:nvSpPr>
          <p:cNvPr id="7" name="link-video-pdo">
            <a:extLst xmlns:a="http://schemas.openxmlformats.org/drawingml/2006/main">
              <a:ext uri="{FF2B5EF4-FFF2-40B4-BE49-F238E27FC236}">
                <a16:creationId xmlns:a16="http://schemas.microsoft.com/office/drawing/2014/main" id="{D7FD31BE-3558-4FF4-9611-C0DEC1DC7DFA}"/>
              </a:ext>
            </a:extLst>
          </p:cNvPr>
          <p:cNvSpPr>
            <a:spLocks xmlns:a="http://schemas.openxmlformats.org/drawingml/2006/main" noGrp="1"/>
          </p:cNvSpPr>
          <p:nvPr/>
        </p:nvSpPr>
        <p:spPr>
          <a:xfrm xmlns:a="http://schemas.openxmlformats.org/drawingml/2006/main">
            <a:off x="666750" y="5114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8BE0C9"/>
                </a:solidFill>
                <a:latin typeface="Arial"/>
                <a:ea typeface="Arial"/>
                <a:cs typeface="Arial"/>
              </a:defRPr>
            </a:pPr>
            <a:r>
              <a:rPr sz="1800" b="0">
                <a:solidFill>
                  <a:srgbClr val="8BE0C9"/>
                </a:solidFill>
                <a:latin typeface="Arial"/>
                <a:ea typeface="Arial"/>
                <a:cs typeface="Arial"/>
                <a:hlinkClick xmlns:r="http://schemas.openxmlformats.org/officeDocument/2006/relationships" r:id="R945e34899b0a4f80"/>
              </a:rPr>
              <a:t>MP4 : pipeline et inspection PDO</a:t>
            </a:r>
          </a:p>
        </p:txBody>
      </p:sp>
      <p:sp>
        <p:nvSpPr>
          <p:cNvPr id="8" name="link-pdf">
            <a:extLst xmlns:a="http://schemas.openxmlformats.org/drawingml/2006/main">
              <a:ext uri="{FF2B5EF4-FFF2-40B4-BE49-F238E27FC236}">
                <a16:creationId xmlns:a16="http://schemas.microsoft.com/office/drawing/2014/main" id="{175D54D5-CF65-4E41-BDEB-7691DF25D327}"/>
              </a:ext>
            </a:extLst>
          </p:cNvPr>
          <p:cNvSpPr>
            <a:spLocks xmlns:a="http://schemas.openxmlformats.org/drawingml/2006/main" noGrp="1"/>
          </p:cNvSpPr>
          <p:nvPr/>
        </p:nvSpPr>
        <p:spPr>
          <a:xfrm xmlns:a="http://schemas.openxmlformats.org/drawingml/2006/main">
            <a:off x="666750" y="56578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8BE0C9"/>
                </a:solidFill>
                <a:latin typeface="Arial"/>
                <a:ea typeface="Arial"/>
                <a:cs typeface="Arial"/>
              </a:defRPr>
            </a:pPr>
            <a:r>
              <a:rPr sz="1650" b="0">
                <a:solidFill>
                  <a:srgbClr val="8BE0C9"/>
                </a:solidFill>
                <a:latin typeface="Arial"/>
                <a:ea typeface="Arial"/>
                <a:cs typeface="Arial"/>
                <a:hlinkClick xmlns:r="http://schemas.openxmlformats.org/officeDocument/2006/relationships" r:id="R105667e6c1c44490"/>
              </a:rPr>
              <a:t>Exemple : note d’arbitrage PDF (A4)</a:t>
            </a:r>
          </a:p>
        </p:txBody>
      </p:sp>
    </p:spTree>
    <p:extLst>
      <p:ext uri="{BB962C8B-B14F-4D97-AF65-F5344CB8AC3E}">
        <p14:creationId xmlns:p14="http://schemas.microsoft.com/office/powerpoint/2010/main" val="17986441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2026-10-01T19:01:06.4580000Z</dcterms:created>
  <dcterms:modified xsi:type="dcterms:W3CDTF">2026-10-01T19:01:06.4580000Z</dcterms:modified>
</coreProperties>
</file>