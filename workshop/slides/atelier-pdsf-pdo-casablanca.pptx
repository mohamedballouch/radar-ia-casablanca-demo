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1fa2a1b29a41de" /><Relationship Type="http://schemas.openxmlformats.org/officeDocument/2006/relationships/extended-properties" Target="/docProps/app.xml" Id="Ra596da9606ef49ba" /><Relationship Type="http://schemas.openxmlformats.org/officeDocument/2006/relationships/officeDocument" Target="/ppt/presentation.xml" Id="R7c6576c4e4544e42" /></Relationships>
</file>

<file path=ppt/presentation.xml><?xml version="1.0" encoding="utf-8"?>
<p:presentation xmlns:p="http://schemas.openxmlformats.org/presentationml/2006/main">
  <p:sldMasterIdLst>
    <p:sldMasterId xmlns:r="http://schemas.openxmlformats.org/officeDocument/2006/relationships" id="2147483648" r:id="R7e69c6f197214aad"/>
  </p:sldMasterIdLst>
  <p:notesMasterIdLst>
    <p:notesMasterId xmlns:r="http://schemas.openxmlformats.org/officeDocument/2006/relationships" r:id="R57cbfc53ea5f48c9"/>
  </p:notesMasterIdLst>
  <p:sldIdLst>
    <p:sldId xmlns:r="http://schemas.openxmlformats.org/officeDocument/2006/relationships" id="256" r:id="Rd2f3da2c80164c85"/>
    <p:sldId xmlns:r="http://schemas.openxmlformats.org/officeDocument/2006/relationships" id="257" r:id="R09ec743ddfd743fe"/>
    <p:sldId xmlns:r="http://schemas.openxmlformats.org/officeDocument/2006/relationships" id="258" r:id="R9a45c6725a044770"/>
    <p:sldId xmlns:r="http://schemas.openxmlformats.org/officeDocument/2006/relationships" id="259" r:id="Re97f70282f1649c4"/>
    <p:sldId xmlns:r="http://schemas.openxmlformats.org/officeDocument/2006/relationships" id="260" r:id="Ra2e20cb5b45c4ce2"/>
    <p:sldId xmlns:r="http://schemas.openxmlformats.org/officeDocument/2006/relationships" id="261" r:id="Rdbfa7393240d4621"/>
    <p:sldId xmlns:r="http://schemas.openxmlformats.org/officeDocument/2006/relationships" id="262" r:id="R186eb349000f4b4c"/>
    <p:sldId xmlns:r="http://schemas.openxmlformats.org/officeDocument/2006/relationships" id="263" r:id="Rc0a0479f8f984ab3"/>
    <p:sldId xmlns:r="http://schemas.openxmlformats.org/officeDocument/2006/relationships" id="264" r:id="Rae344f0688224ec9"/>
    <p:sldId xmlns:r="http://schemas.openxmlformats.org/officeDocument/2006/relationships" id="265" r:id="R06d84025079d4d58"/>
    <p:sldId xmlns:r="http://schemas.openxmlformats.org/officeDocument/2006/relationships" id="266" r:id="Rf4bbdaabb6984351"/>
    <p:sldId xmlns:r="http://schemas.openxmlformats.org/officeDocument/2006/relationships" id="267" r:id="R6b977e9aa2914714"/>
    <p:sldId xmlns:r="http://schemas.openxmlformats.org/officeDocument/2006/relationships" id="268" r:id="R2aa23c229df24d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06d2a635b64ac9" /><Relationship Type="http://schemas.openxmlformats.org/officeDocument/2006/relationships/slideMaster" Target="/ppt/slideMasters/slideMaster1.xml" Id="R7e69c6f197214aad" /><Relationship Type="http://schemas.openxmlformats.org/officeDocument/2006/relationships/notesMaster" Target="/ppt/notesMasters/notesMaster1.xml" Id="R57cbfc53ea5f48c9" /><Relationship Type="http://schemas.openxmlformats.org/officeDocument/2006/relationships/presProps" Target="/ppt/presProps.xml" Id="R227635dafaae4d95" /><Relationship Type="http://schemas.openxmlformats.org/officeDocument/2006/relationships/tableStyles" Target="/ppt/tableStyles.xml" Id="Re4501300ef4f42eb" /><Relationship Type="http://schemas.openxmlformats.org/officeDocument/2006/relationships/slide" Target="/ppt/slides/slide1.xml" Id="Rd2f3da2c80164c85" /><Relationship Type="http://schemas.openxmlformats.org/officeDocument/2006/relationships/slide" Target="/ppt/slides/slide2.xml" Id="R09ec743ddfd743fe" /><Relationship Type="http://schemas.openxmlformats.org/officeDocument/2006/relationships/slide" Target="/ppt/slides/slide3.xml" Id="R9a45c6725a044770" /><Relationship Type="http://schemas.openxmlformats.org/officeDocument/2006/relationships/slide" Target="/ppt/slides/slide4.xml" Id="Re97f70282f1649c4" /><Relationship Type="http://schemas.openxmlformats.org/officeDocument/2006/relationships/slide" Target="/ppt/slides/slide5.xml" Id="Ra2e20cb5b45c4ce2" /><Relationship Type="http://schemas.openxmlformats.org/officeDocument/2006/relationships/slide" Target="/ppt/slides/slide6.xml" Id="Rdbfa7393240d4621" /><Relationship Type="http://schemas.openxmlformats.org/officeDocument/2006/relationships/slide" Target="/ppt/slides/slide7.xml" Id="R186eb349000f4b4c" /><Relationship Type="http://schemas.openxmlformats.org/officeDocument/2006/relationships/slide" Target="/ppt/slides/slide8.xml" Id="Rc0a0479f8f984ab3" /><Relationship Type="http://schemas.openxmlformats.org/officeDocument/2006/relationships/slide" Target="/ppt/slides/slide9.xml" Id="Rae344f0688224ec9" /><Relationship Type="http://schemas.openxmlformats.org/officeDocument/2006/relationships/slide" Target="/ppt/slides/slide10.xml" Id="R06d84025079d4d58" /><Relationship Type="http://schemas.openxmlformats.org/officeDocument/2006/relationships/slide" Target="/ppt/slides/slide11.xml" Id="Rf4bbdaabb6984351" /><Relationship Type="http://schemas.openxmlformats.org/officeDocument/2006/relationships/slide" Target="/ppt/slides/slide12.xml" Id="R6b977e9aa2914714" /><Relationship Type="http://schemas.openxmlformats.org/officeDocument/2006/relationships/slide" Target="/ppt/slides/slide13.xml" Id="R2aa23c229df24d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e255c08fd54ce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6d87fb487f54aa1" /><Relationship Type="http://schemas.openxmlformats.org/officeDocument/2006/relationships/notesMaster" Target="/ppt/notesMasters/notesMaster1.xml" Id="Rfdd1d6ac2b9a43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6d7ec812f14aa6" /><Relationship Type="http://schemas.openxmlformats.org/officeDocument/2006/relationships/notesMaster" Target="/ppt/notesMasters/notesMaster1.xml" Id="R3a8fc81e6b134f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bb5ead2bba4028" /><Relationship Type="http://schemas.openxmlformats.org/officeDocument/2006/relationships/notesMaster" Target="/ppt/notesMasters/notesMaster1.xml" Id="Ra299acc7f18a41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e0000d040af5411d" /><Relationship Type="http://schemas.openxmlformats.org/officeDocument/2006/relationships/notesMaster" Target="/ppt/notesMasters/notesMaster1.xml" Id="R04b4282103214e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85b11c58dd40b5" /><Relationship Type="http://schemas.openxmlformats.org/officeDocument/2006/relationships/notesMaster" Target="/ppt/notesMasters/notesMaster1.xml" Id="R1f1abf3ad77948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ef24e53df94a94" /><Relationship Type="http://schemas.openxmlformats.org/officeDocument/2006/relationships/notesMaster" Target="/ppt/notesMasters/notesMaster1.xml" Id="Rc2f5cd3bb2ef40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36139d1025704728" /><Relationship Type="http://schemas.openxmlformats.org/officeDocument/2006/relationships/notesMaster" Target="/ppt/notesMasters/notesMaster1.xml" Id="R048b7df720c84b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48abe76940e4040" /><Relationship Type="http://schemas.openxmlformats.org/officeDocument/2006/relationships/notesMaster" Target="/ppt/notesMasters/notesMaster1.xml" Id="R18426fc4cc24409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10cf5fb1d94073" /><Relationship Type="http://schemas.openxmlformats.org/officeDocument/2006/relationships/notesMaster" Target="/ppt/notesMasters/notesMaster1.xml" Id="R1693799b2bf546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d9f876d1a149ee" /><Relationship Type="http://schemas.openxmlformats.org/officeDocument/2006/relationships/notesMaster" Target="/ppt/notesMasters/notesMaster1.xml" Id="R3eb4361af565478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0e30c9c04bd4abc" /><Relationship Type="http://schemas.openxmlformats.org/officeDocument/2006/relationships/notesMaster" Target="/ppt/notesMasters/notesMaster1.xml" Id="R37065ebe651c403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81789739f744881" /><Relationship Type="http://schemas.openxmlformats.org/officeDocument/2006/relationships/notesMaster" Target="/ppt/notesMasters/notesMaster1.xml" Id="R05555da309a04e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a4f8ed79aa94f7e" /><Relationship Type="http://schemas.openxmlformats.org/officeDocument/2006/relationships/notesMaster" Target="/ppt/notesMasters/notesMaster1.xml" Id="Rb945ac8ca40247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00–02 min. Poser le défi sans jargon : « Notre responsable veut une note claire pour arbitrer trois idées IA. Comment passer de cette demande à un résultat que l’on peut relire ? » Annoncer le fil conducteur de cette séance de 40 minutes : issue GitHub #1, pipeline PDO, run terminé inspecté, puis PR #2 en brouillon créée après revue humaine. PDSF et PDO jouent deux rôles complémentaires.</a:t>
            </a:r>
          </a:p>
          <a:p xmlns:a="http://schemas.openxmlformats.org/drawingml/2006/main">
            <a:r>
              <a:t/>
            </a:r>
          </a:p>
          <a:p xmlns:a="http://schemas.openxmlformats.org/drawingml/2006/main">
            <a:r>
              <a:t>Sources :</a:t>
            </a:r>
          </a:p>
          <a:p xmlns:a="http://schemas.openxmlformats.org/drawingml/2006/main">
            <a:r>
              <a:t>- https://github.com/Loulen/prompt-driven-software-factory/blob/main/README.md</a:t>
            </a:r>
          </a:p>
          <a:p xmlns:a="http://schemas.openxmlformats.org/drawingml/2006/main">
            <a:r>
              <a:t>- https://github.com/Loulen/prompt-driven-orchestrator/blob/v1.110.0/docs/features.md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02–06 min. Faire voter rapidement à main levée : quel cas l’équipe prioriserait-elle, et sur quel critère ? Ouvrir ensuite le produit. Les trois scénarios et les scores sont fictifs ; aucun système d’entreprise ni donnée client ne se trouve dans la démonstration. Le score sert à ouvrir une discussion, pas à décider un investissement.</a:t>
            </a:r>
          </a:p>
          <a:p xmlns:a="http://schemas.openxmlformats.org/drawingml/2006/main">
            <a:r>
              <a:t/>
            </a:r>
          </a:p>
          <a:p xmlns:a="http://schemas.openxmlformats.org/drawingml/2006/main">
            <a:r>
              <a:t>Sources :</a:t>
            </a:r>
          </a:p>
          <a:p xmlns:a="http://schemas.openxmlformats.org/drawingml/2006/main">
            <a:r>
              <a:t>- https://github.com/Mohamedballouch/radar-ia-casablanca-demo</a:t>
            </a:r>
          </a:p>
          <a:p xmlns:a="http://schemas.openxmlformats.org/drawingml/2006/main">
            <a:r>
              <a:t>- C:\projects\pdo\atelier-casablanca-2026-10-05\ticket-demo.md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06–08 min. Montrer rapidement le vrai dépôt : AGENTS.md, .agents/skills/, CONTEXT.md et docs/adr/. PDSF est un jeu de skills que l’on installe dans le dépôt. Avec Claude Code, un overlay .claude/skills et CLAUDE.md peut être ajouté. Ne pas dire qu’un skill précis a tourné sans trace d’invocation. /build-factory a deux modes : scaffold et context.</a:t>
            </a:r>
          </a:p>
          <a:p xmlns:a="http://schemas.openxmlformats.org/drawingml/2006/main">
            <a:r>
              <a:t/>
            </a:r>
          </a:p>
          <a:p xmlns:a="http://schemas.openxmlformats.org/drawingml/2006/main">
            <a:r>
              <a:t>Sources :</a:t>
            </a:r>
          </a:p>
          <a:p xmlns:a="http://schemas.openxmlformats.org/drawingml/2006/main">
            <a:r>
              <a:t>- https://github.com/Loulen/prompt-driven-software-factory/blob/main/README.md</a:t>
            </a:r>
          </a:p>
          <a:p xmlns:a="http://schemas.openxmlformats.org/drawingml/2006/main">
            <a:r>
              <a:t>- https://github.com/Loulen/prompt-driven-software-factory/blob/main/docs/INSTALL.md</a:t>
            </a:r>
          </a:p>
          <a:p xmlns:a="http://schemas.openxmlformats.org/drawingml/2006/main">
            <a:r>
              <a:t>- https://github.com/Mohamedballouch/radar-ia-casablanca-demo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08–10 min. Demander au public une réponse courte à chacune des deux questions. Pour la seconde : le classement et la note doivent se mettre à jour, y compris en cas d’ex æquo. Expliquer ensuite le parcours PDSF : /to-us aide à écrire les User Stories métier ; /grill-with-docs peut préciser le domaine dans CONTEXT.md et les ADR ; /to-spec synthétise ; /to-tickets découpe en tickets techniques. Ces questions empruntent l’esprit de clarification du dojo partagé, sans prétendre qu’un mode context ou un skill de grill a été exécuté pendant cette démonstration. Le PO et le développeur gardent les décisions structurantes.</a:t>
            </a:r>
          </a:p>
          <a:p xmlns:a="http://schemas.openxmlformats.org/drawingml/2006/main">
            <a:r>
              <a:t/>
            </a:r>
          </a:p>
          <a:p xmlns:a="http://schemas.openxmlformats.org/drawingml/2006/main">
            <a:r>
              <a:t>Sources :</a:t>
            </a:r>
          </a:p>
          <a:p xmlns:a="http://schemas.openxmlformats.org/drawingml/2006/main">
            <a:r>
              <a:t>- https://github.com/Loulen/prompt-driven-software-factory/blob/main/README.md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10–14 min. Montrer la vraie issue et lire seulement les critères utiles à une personne métier : la note reflète les modifications, se copie et s’imprime sans les contrôles de saisie, avertit des limites. Le texte de l’issue précise aussi l’accessibilité au clavier et sur mobile, les tests de génération/ex æquo et la mise à jour du README. Le lien ne synchronise pas automatiquement le ticket à PDO ; le nœud Lire le ticket doit utiliser gh.</a:t>
            </a:r>
          </a:p>
          <a:p xmlns:a="http://schemas.openxmlformats.org/drawingml/2006/main">
            <a:r>
              <a:t/>
            </a:r>
          </a:p>
          <a:p xmlns:a="http://schemas.openxmlformats.org/drawingml/2006/main">
            <a:r>
              <a:t>Sources :</a:t>
            </a:r>
          </a:p>
          <a:p xmlns:a="http://schemas.openxmlformats.org/drawingml/2006/main">
            <a:r>
              <a:t>- https://github.com/Mohamedballouch/radar-ia-casablanca-demo/issues/1</a:t>
            </a:r>
          </a:p>
          <a:p xmlns:a="http://schemas.openxmlformats.org/drawingml/2006/main">
            <a:r>
              <a:t>- C:\projects\pdo\atelier-casablanca-2026-10-05\ticket-demo.md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14–16 min. Demander au public de prédire le rôle du nœud de revue et la branche d’échec avant de révéler le vrai canvas de la diapositive suivante. PDO fonctionne ici comme daemon dans Ubuntu. Le pipeline appartient à la bibliothèque d’instance (~/.pdo/pipelines/). New Run choisit explicitement un dépôt local, une branche source, un pipeline et un prompt. Agent, Script et Merge répondent à des besoins différents ; le pipeline de cet atelier emploie des Agents. PDO peut fonctionner sans PDSF, et PDSF peut guider un agent sans PDO.</a:t>
            </a:r>
          </a:p>
          <a:p xmlns:a="http://schemas.openxmlformats.org/drawingml/2006/main">
            <a:r>
              <a:t/>
            </a:r>
          </a:p>
          <a:p xmlns:a="http://schemas.openxmlformats.org/drawingml/2006/main">
            <a:r>
              <a:t>Sources :</a:t>
            </a:r>
          </a:p>
          <a:p xmlns:a="http://schemas.openxmlformats.org/drawingml/2006/main">
            <a:r>
              <a:t>- https://github.com/Loulen/prompt-driven-orchestrator/blob/v1.110.0/docs/features.md</a:t>
            </a:r>
          </a:p>
          <a:p xmlns:a="http://schemas.openxmlformats.org/drawingml/2006/main">
            <a:r>
              <a:t>- https://github.com/Mohamedballouch/radar-ia-casablanca-demo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16–19 min. Après les réponses du public, ouvrir le vrai canvas PDO de atelier-radar-ia. Le YAML contient Start, Lire le ticket, Développer la fonction, Vérifier la fonction, Brief manager, End. Demander de repérer la branche fail : elle revient à Développer, avec trois itérations maximum. Le nœud Vérifier produit un verdict pass/fail en frontmatter. La configuration du pipeline prescrit l’examen du code, du diff, des tests et du build ; les preuves d’exécution seront visibles dans le run.</a:t>
            </a:r>
          </a:p>
          <a:p xmlns:a="http://schemas.openxmlformats.org/drawingml/2006/main">
            <a:r>
              <a:t/>
            </a:r>
          </a:p>
          <a:p xmlns:a="http://schemas.openxmlformats.org/drawingml/2006/main">
            <a:r>
              <a:t>Sources :</a:t>
            </a:r>
          </a:p>
          <a:p xmlns:a="http://schemas.openxmlformats.org/drawingml/2006/main">
            <a:r>
              <a:t>- C:\projects\pdo\atelier-casablanca-2026-10-05\pipeline\atelier-radar-ia.yaml</a:t>
            </a:r>
          </a:p>
          <a:p xmlns:a="http://schemas.openxmlformats.org/drawingml/2006/main">
            <a:r>
              <a:t>- C:\projects\pdo\atelier-casablanca-2026-10-05\pipeline\atelier-radar-ia.prompts\reviewer.md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19–23 min. Dans PDO, lire les cinq choix à voix haute avant de cliquer Launch. Le chemin doit être celui du clone dans Ubuntu, pas un lien GitHub. Confirmer la branche, le pipeline, l’agent et l’issue exacte. Une URL d’issue dans le prompt sert à guider un nœud de lecture ; elle ne crée pas un webhook. Éviter de montrer l’authentification gh ou une clé API en projection.</a:t>
            </a:r>
          </a:p>
          <a:p xmlns:a="http://schemas.openxmlformats.org/drawingml/2006/main">
            <a:r>
              <a:t/>
            </a:r>
          </a:p>
          <a:p xmlns:a="http://schemas.openxmlformats.org/drawingml/2006/main">
            <a:r>
              <a:t>Sources :</a:t>
            </a:r>
          </a:p>
          <a:p xmlns:a="http://schemas.openxmlformats.org/drawingml/2006/main">
            <a:r>
              <a:t>- https://github.com/Mohamedballouch/radar-ia-casablanca-demo</a:t>
            </a:r>
          </a:p>
          <a:p xmlns:a="http://schemas.openxmlformats.org/drawingml/2006/main">
            <a:r>
              <a:t>- https://github.com/Mohamedballouch/radar-ia-casablanca-demo/issues/1</a:t>
            </a:r>
          </a:p>
          <a:p xmlns:a="http://schemas.openxmlformats.org/drawingml/2006/main">
            <a:r>
              <a:t>- https://github.com/Loulen/prompt-driven-orchestrator/blob/v1.110.0/docs/reference/cli.md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23–25 min. Lancer un run une seule fois et noter son ID devant le public. Si l’agent travaille encore, basculer explicitement vers le run déjà terminé et réellement inspecté. Ne jamais dire que la capture d’un formulaire prouve une exécution. Le run préparé doit être ouvert par son ID et son dépôt contrôlé dans Repositories.</a:t>
            </a:r>
          </a:p>
          <a:p xmlns:a="http://schemas.openxmlformats.org/drawingml/2006/main">
            <a:r>
              <a:t/>
            </a:r>
          </a:p>
          <a:p xmlns:a="http://schemas.openxmlformats.org/drawingml/2006/main">
            <a:r>
              <a:t>Sources :</a:t>
            </a:r>
          </a:p>
          <a:p xmlns:a="http://schemas.openxmlformats.org/drawingml/2006/main">
            <a:r>
              <a:t>- http://localhost:5172/runs/20261001-183530-abd2d8d/review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25–33 min. Ouvrir chaque nœud du run terminé. Start : prompt exact. Lire le ticket : issue et critères. Développer : fichiers modifiés et tests déclarés. Vérifier : commandes exécutées, résultats, verdict. Brief manager : texte réellement produit. Dans Repositories, vérifier le dépôt primaire et la branche. Dans Diff, examiner les changements avant toute publication ; YAML conserve la définition utilisée. Un verdict pass n’est pas une garantie sans lecture des preuves. Le run est terminé. La revue a conclu `verdict: pass` après lecture du diff et essais dans Chromium, dont presse-papiers, impression A4, clavier, ex æquo, réinitialisation et affichage mobile. 12 tests sur 12 et build réussis.</a:t>
            </a:r>
          </a:p>
          <a:p xmlns:a="http://schemas.openxmlformats.org/drawingml/2006/main">
            <a:r>
              <a:t/>
            </a:r>
          </a:p>
          <a:p xmlns:a="http://schemas.openxmlformats.org/drawingml/2006/main">
            <a:r>
              <a:t>Sources :</a:t>
            </a:r>
          </a:p>
          <a:p xmlns:a="http://schemas.openxmlformats.org/drawingml/2006/main">
            <a:r>
              <a:t>- http://localhost:5172/runs/20261001-183530-abd2d8d/review</a:t>
            </a:r>
          </a:p>
          <a:p xmlns:a="http://schemas.openxmlformats.org/drawingml/2006/main">
            <a:r>
              <a:t>- C:\projects\pdo\atelier-casablanca-2026-10-05\pipeline\atelier-radar-ia.yaml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33–36 min. Démontrer la branche vérifiée : modifier une valeur, copier la note, contrôler le contenu, puis ouvrir l’aperçu impression/PDF. Demander ensuite un mini-vote : les preuves suffisent-elles à ouvrir une PR de revue ? Faire citer ce qu’une personne doit encore relire : diff, comportement réel, limites de l’usage métier. La version montrée provient de la branche du run ou de la branche d’intégration publiée ; annoncer laquelle est ouverte. Scores fictifs, pas de connexion aux données de l’entreprise, décision finale humaine.</a:t>
            </a:r>
          </a:p>
          <a:p xmlns:a="http://schemas.openxmlformats.org/drawingml/2006/main">
            <a:r>
              <a:t/>
            </a:r>
          </a:p>
          <a:p xmlns:a="http://schemas.openxmlformats.org/drawingml/2006/main">
            <a:r>
              <a:t>Sources :</a:t>
            </a:r>
          </a:p>
          <a:p xmlns:a="http://schemas.openxmlformats.org/drawingml/2006/main">
            <a:r>
              <a:t>- https://github.com/Mohamedballouch/radar-ia-casablanca-demo/issues/1</a:t>
            </a:r>
          </a:p>
          <a:p xmlns:a="http://schemas.openxmlformats.org/drawingml/2006/main">
            <a:r>
              <a:t>- http://localhost:5172/runs/20261001-183530-abd2d8d/review</a:t>
            </a:r>
          </a:p>
          <a:p xmlns:a="http://schemas.openxmlformats.org/drawingml/2006/main">
            <a:r>
              <a:t>- http://localhost:5174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36–38 min. Reprendre le vote : oui pour une PR de revue ne signifie pas oui pour la fusion. Les prompts du pipeline de démonstration interdisent au reviewer de pousser, d’ouvrir une PR ou de modifier l’issue. Le run travaille dans une branche et un worktree isolés. Après examen du diff, des tests et de l’interface, une personne décide de créer ou non une PR et de clore ou non le ticket. Ici, une PR #2 en brouillon a été ouverte manuellement vers develop après la revue. Elle est encore non fusionnée et l’issue #1 reste ouverte.</a:t>
            </a:r>
          </a:p>
          <a:p xmlns:a="http://schemas.openxmlformats.org/drawingml/2006/main">
            <a:r>
              <a:t/>
            </a:r>
          </a:p>
          <a:p xmlns:a="http://schemas.openxmlformats.org/drawingml/2006/main">
            <a:r>
              <a:t>Sources :</a:t>
            </a:r>
          </a:p>
          <a:p xmlns:a="http://schemas.openxmlformats.org/drawingml/2006/main">
            <a:r>
              <a:t>- https://github.com/Loulen/prompt-driven-software-factory/blob/main/README.md</a:t>
            </a:r>
          </a:p>
          <a:p xmlns:a="http://schemas.openxmlformats.org/drawingml/2006/main">
            <a:r>
              <a:t>- https://github.com/Loulen/prompt-driven-orchestrator/blob/v1.110.0/docs/features.md</a:t>
            </a:r>
          </a:p>
          <a:p xmlns:a="http://schemas.openxmlformats.org/drawingml/2006/main">
            <a:r>
              <a:t>- C:\projects\pdo\atelier-casablanca-2026-10-05\pipeline\atelier-radar-ia.prompts\reviewer.md</a:t>
            </a:r>
          </a:p>
          <a:p xmlns:a="http://schemas.openxmlformats.org/drawingml/2006/main">
            <a:r>
              <a:t>- https://github.com/Mohamedballouch/radar-ia-casablanca-demo/pull/2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38–40 min. Prendre deux questions. Rappeler l’issue #1, le run terminé inspecté et la PR #2 encore en brouillon : voilà ce que l’équipe peut vérifier après l’atelier. Proposer un second atelier technique pour installer PDSF sur un autre dépôt ou construire un pipeline PDO adapté à un vrai cas. Les liens pointent vers les livrables réels. Ne pas afficher de secrets, données clients ou authentification pendant la séance.</a:t>
            </a:r>
          </a:p>
          <a:p xmlns:a="http://schemas.openxmlformats.org/drawingml/2006/main">
            <a:r>
              <a:t/>
            </a:r>
          </a:p>
          <a:p xmlns:a="http://schemas.openxmlformats.org/drawingml/2006/main">
            <a:r>
              <a:t>Sources :</a:t>
            </a:r>
          </a:p>
          <a:p xmlns:a="http://schemas.openxmlformats.org/drawingml/2006/main">
            <a:r>
              <a:t>- https://github.com/Mohamedballouch/radar-ia-casablanca-demo</a:t>
            </a:r>
          </a:p>
          <a:p xmlns:a="http://schemas.openxmlformats.org/drawingml/2006/main">
            <a:r>
              <a:t>- https://github.com/Mohamedballouch/radar-ia-casablanca-demo/issues/1</a:t>
            </a:r>
          </a:p>
          <a:p xmlns:a="http://schemas.openxmlformats.org/drawingml/2006/main">
            <a:r>
              <a:t>- https://github.com/Mohamedballouch/radar-ia-casablanca-demo/pull/2</a:t>
            </a:r>
          </a:p>
          <a:p xmlns:a="http://schemas.openxmlformats.org/drawingml/2006/main">
            <a:r>
              <a:t>- https://raw.githubusercontent.com/Mohamedballouch/radar-ia-casablanca-demo/develop/workshop/videos/demo-radar-ia-produit.mp4</a:t>
            </a:r>
          </a:p>
          <a:p xmlns:a="http://schemas.openxmlformats.org/drawingml/2006/main">
            <a:r>
              <a:t>- https://raw.githubusercontent.com/Mohamedballouch/radar-ia-casablanca-demo/develop/workshop/videos/demo-pdo-run-inspection.mp4</a:t>
            </a:r>
          </a:p>
          <a:p xmlns:a="http://schemas.openxmlformats.org/drawingml/2006/main">
            <a:r>
              <a:t>- https://raw.githubusercontent.com/Mohamedballouch/radar-ia-casablanca-demo/develop/workshop/examples/note-arbitrage-exemple.pdf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81b2890e5743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d136651e7246a8" /><Relationship Type="http://schemas.openxmlformats.org/officeDocument/2006/relationships/slideLayout" Target="/ppt/slideLayouts/slideLayout1.xml" Id="R29c79b625537458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c79b625537458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10b14e77f74405" /><Relationship Type="http://schemas.openxmlformats.org/officeDocument/2006/relationships/notesSlide" Target="/ppt/notesSlides/notesSlide1.xml" Id="Re058186c589a4f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52b49eb5afa41cb" /><Relationship Type="http://schemas.openxmlformats.org/officeDocument/2006/relationships/image" Target="/ppt/media/image.png" Id="Rb8e58b65aa3b45b5" /><Relationship Type="http://schemas.openxmlformats.org/officeDocument/2006/relationships/notesSlide" Target="/ppt/notesSlides/notesSlide2.xml" Id="Rb5b8c85b9d734f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3c9b025b3cf4080" /><Relationship Type="http://schemas.openxmlformats.org/officeDocument/2006/relationships/notesSlide" Target="/ppt/notesSlides/notesSlide3.xml" Id="Rdda819a49ff140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b7e00ce93f5420d" /><Relationship Type="http://schemas.openxmlformats.org/officeDocument/2006/relationships/notesSlide" Target="/ppt/notesSlides/notesSlide4.xml" Id="Rb65c248c6320488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6c7443bac1b41da" /><Relationship Type="http://schemas.openxmlformats.org/officeDocument/2006/relationships/hyperlink" Target="https://github.com/Mohamedballouch/radar-ia-casablanca-demo/issues/1" TargetMode="External" Id="R2ddd58ff715a4a7c" /><Relationship Type="http://schemas.openxmlformats.org/officeDocument/2006/relationships/image" Target="/ppt/media/image2.png" Id="Ra03ba64b90224dbd" /><Relationship Type="http://schemas.openxmlformats.org/officeDocument/2006/relationships/notesSlide" Target="/ppt/notesSlides/notesSlide5.xml" Id="Ra915fe1473d942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405f5a948ba4922" /><Relationship Type="http://schemas.openxmlformats.org/officeDocument/2006/relationships/notesSlide" Target="/ppt/notesSlides/notesSlide6.xml" Id="Rcc9219a5d0cf48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c252c3f5d44652" /><Relationship Type="http://schemas.openxmlformats.org/officeDocument/2006/relationships/image" Target="/ppt/media/image3.png" Id="R879703f975be498b" /><Relationship Type="http://schemas.openxmlformats.org/officeDocument/2006/relationships/notesSlide" Target="/ppt/notesSlides/notesSlide7.xml" Id="R4d61a64d1a6749b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bb61bddb2a847fc" /><Relationship Type="http://schemas.openxmlformats.org/officeDocument/2006/relationships/image" Target="/ppt/media/image4.png" Id="Rc0d2bcfe5be64e37" /><Relationship Type="http://schemas.openxmlformats.org/officeDocument/2006/relationships/notesSlide" Target="/ppt/notesSlides/notesSlide8.xml" Id="R8ab993df6d314a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649bd2db9c4faa" /><Relationship Type="http://schemas.openxmlformats.org/officeDocument/2006/relationships/hyperlink" Target="http://localhost:5172/runs/20261001-183530-abd2d8d/review" TargetMode="External" Id="R09de163c843948ba" /><Relationship Type="http://schemas.openxmlformats.org/officeDocument/2006/relationships/notesSlide" Target="/ppt/notesSlides/notesSlide9.xml" Id="R23434841f1c848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8fe6e540fd462f" /><Relationship Type="http://schemas.openxmlformats.org/officeDocument/2006/relationships/image" Target="/ppt/media/image5.png" Id="R04821ee79e814142" /><Relationship Type="http://schemas.openxmlformats.org/officeDocument/2006/relationships/notesSlide" Target="/ppt/notesSlides/notesSlide10.xml" Id="Re479f5399b044f9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64c52be4e6f4e79" /><Relationship Type="http://schemas.openxmlformats.org/officeDocument/2006/relationships/image" Target="/ppt/media/image6.png" Id="Rb36c6895b21441fd" /><Relationship Type="http://schemas.openxmlformats.org/officeDocument/2006/relationships/notesSlide" Target="/ppt/notesSlides/notesSlide11.xml" Id="R622a30ca930042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b7794b44be64afb" /><Relationship Type="http://schemas.openxmlformats.org/officeDocument/2006/relationships/image" Target="/ppt/media/image7.png" Id="R5387c7b7dd5f489b" /><Relationship Type="http://schemas.openxmlformats.org/officeDocument/2006/relationships/hyperlink" Target="https://github.com/Mohamedballouch/radar-ia-casablanca-demo/pull/2" TargetMode="External" Id="R7b4d32bdd7ca45dd" /><Relationship Type="http://schemas.openxmlformats.org/officeDocument/2006/relationships/notesSlide" Target="/ppt/notesSlides/notesSlide12.xml" Id="R37d9d1ca3b5949e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aac7170cd0847c5" /><Relationship Type="http://schemas.openxmlformats.org/officeDocument/2006/relationships/hyperlink" Target="https://github.com/Mohamedballouch/radar-ia-casablanca-demo" TargetMode="External" Id="R601de6b8e6834aa1" /><Relationship Type="http://schemas.openxmlformats.org/officeDocument/2006/relationships/hyperlink" Target="https://github.com/Mohamedballouch/radar-ia-casablanca-demo/issues/1" TargetMode="External" Id="R8aa69c988f85427b" /><Relationship Type="http://schemas.openxmlformats.org/officeDocument/2006/relationships/hyperlink" Target="https://github.com/Mohamedballouch/radar-ia-casablanca-demo/pull/2" TargetMode="External" Id="Rda803b1783234751" /><Relationship Type="http://schemas.openxmlformats.org/officeDocument/2006/relationships/hyperlink" Target="https://raw.githubusercontent.com/Mohamedballouch/radar-ia-casablanca-demo/develop/workshop/videos/demo-radar-ia-produit.mp4" TargetMode="External" Id="R7fdd66fdd78843c3" /><Relationship Type="http://schemas.openxmlformats.org/officeDocument/2006/relationships/hyperlink" Target="https://raw.githubusercontent.com/Mohamedballouch/radar-ia-casablanca-demo/develop/workshop/videos/demo-pdo-run-inspection.mp4" TargetMode="External" Id="R68155a04dc844d31" /><Relationship Type="http://schemas.openxmlformats.org/officeDocument/2006/relationships/hyperlink" Target="https://raw.githubusercontent.com/Mohamedballouch/radar-ia-casablanca-demo/develop/workshop/examples/note-arbitrage-exemple.pdf" TargetMode="External" Id="Rd3ecb936dac14f51" /><Relationship Type="http://schemas.openxmlformats.org/officeDocument/2006/relationships/notesSlide" Target="/ppt/notesSlides/notesSlide13.xml" Id="R9ee10e4157f643b4" /></Relationships>
</file>

<file path=ppt/slides/slide1.xml><?xml version="1.0" encoding="utf-8"?>
<p:sld xmlns:p="http://schemas.openxmlformats.org/presentationml/2006/main">
  <p:cSld>
    <p:bg>
      <p:bgPr>
        <a:solidFill xmlns:a="http://schemas.openxmlformats.org/drawingml/2006/main">
          <a:srgbClr val="10212B"/>
        </a:solidFill>
      </p:bgPr>
    </p:bg>
    <p:spTree>
      <p:nvGrpSpPr>
        <p:cNvPr id="1" name=""/>
        <p:cNvGrpSpPr/>
        <p:nvPr/>
      </p:nvGrpSpPr>
      <p:grpSpPr>
        <a:xfrm xmlns:a="http://schemas.openxmlformats.org/drawingml/2006/main"/>
      </p:grpSpPr>
      <p:sp>
        <p:nvSpPr>
          <p:cNvPr id="5" name="cover-title">
            <a:extLst xmlns:a="http://schemas.openxmlformats.org/drawingml/2006/main">
              <a:ext uri="{FF2B5EF4-FFF2-40B4-BE49-F238E27FC236}">
                <a16:creationId xmlns:a16="http://schemas.microsoft.com/office/drawing/2014/main" id="{1719022B-23AD-4E66-8CF8-2FC9B41D2100}"/>
              </a:ext>
            </a:extLst>
          </p:cNvPr>
          <p:cNvSpPr>
            <a:spLocks xmlns:a="http://schemas.openxmlformats.org/drawingml/2006/main" noGrp="1"/>
          </p:cNvSpPr>
          <p:nvPr/>
        </p:nvSpPr>
        <p:spPr>
          <a:xfrm xmlns:a="http://schemas.openxmlformats.org/drawingml/2006/main">
            <a:off x="685800" y="146685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5400" b="1">
                <a:solidFill>
                  <a:srgbClr val="FFFFFF"/>
                </a:solidFill>
                <a:latin typeface="Arial"/>
                <a:ea typeface="Arial"/>
                <a:cs typeface="Arial"/>
              </a:defRPr>
            </a:pPr>
            <a:r>
              <a:rPr sz="5400" b="1">
                <a:solidFill>
                  <a:srgbClr val="FFFFFF"/>
                </a:solidFill>
                <a:latin typeface="Arial"/>
                <a:ea typeface="Arial"/>
                <a:cs typeface="Arial"/>
              </a:rPr>
              <a:t>PDSF + PDO</a:t>
            </a:r>
          </a:p>
        </p:txBody>
      </p:sp>
      <p:sp>
        <p:nvSpPr>
          <p:cNvPr id="2" name="cover-subtitle">
            <a:extLst xmlns:a="http://schemas.openxmlformats.org/drawingml/2006/main">
              <a:ext uri="{FF2B5EF4-FFF2-40B4-BE49-F238E27FC236}">
                <a16:creationId xmlns:a16="http://schemas.microsoft.com/office/drawing/2014/main" id="{BB0E33F3-8F7A-4054-9618-1671692E08CC}"/>
              </a:ext>
            </a:extLst>
          </p:cNvPr>
          <p:cNvSpPr>
            <a:spLocks xmlns:a="http://schemas.openxmlformats.org/drawingml/2006/main" noGrp="1"/>
          </p:cNvSpPr>
          <p:nvPr/>
        </p:nvSpPr>
        <p:spPr>
          <a:xfrm xmlns:a="http://schemas.openxmlformats.org/drawingml/2006/main">
            <a:off x="714375" y="2514600"/>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E9A93C"/>
                </a:solidFill>
                <a:latin typeface="Arial"/>
                <a:ea typeface="Arial"/>
                <a:cs typeface="Arial"/>
              </a:defRPr>
            </a:pPr>
            <a:r>
              <a:rPr sz="2550" b="0">
                <a:solidFill>
                  <a:srgbClr val="E9A93C"/>
                </a:solidFill>
                <a:latin typeface="Arial"/>
                <a:ea typeface="Arial"/>
                <a:cs typeface="Arial"/>
              </a:rPr>
              <a:t>Une issue réelle, un run inspecté, une PR à relire</a:t>
            </a:r>
          </a:p>
        </p:txBody>
      </p:sp>
      <p:sp>
        <p:nvSpPr>
          <p:cNvPr id="3" name="cover-expanded">
            <a:extLst xmlns:a="http://schemas.openxmlformats.org/drawingml/2006/main">
              <a:ext uri="{FF2B5EF4-FFF2-40B4-BE49-F238E27FC236}">
                <a16:creationId xmlns:a16="http://schemas.microsoft.com/office/drawing/2014/main" id="{4A07887F-DF1D-4CEF-A18D-DEF53FD2F987}"/>
              </a:ext>
            </a:extLst>
          </p:cNvPr>
          <p:cNvSpPr>
            <a:spLocks xmlns:a="http://schemas.openxmlformats.org/drawingml/2006/main" noGrp="1"/>
          </p:cNvSpPr>
          <p:nvPr/>
        </p:nvSpPr>
        <p:spPr>
          <a:xfrm xmlns:a="http://schemas.openxmlformats.org/drawingml/2006/main">
            <a:off x="714375" y="3457575"/>
            <a:ext cx="10382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B8CBC7"/>
                </a:solidFill>
                <a:latin typeface="Arial"/>
                <a:ea typeface="Arial"/>
                <a:cs typeface="Arial"/>
              </a:defRPr>
            </a:pPr>
            <a:r>
              <a:rPr sz="1725" b="0">
                <a:solidFill>
                  <a:srgbClr val="B8CBC7"/>
                </a:solidFill>
                <a:latin typeface="Arial"/>
                <a:ea typeface="Arial"/>
                <a:cs typeface="Arial"/>
              </a:rPr>
              <a:t>Prompt Driven Software Factory + Prompt Driven Orchestrator</a:t>
            </a:r>
          </a:p>
        </p:txBody>
      </p:sp>
      <p:sp>
        <p:nvSpPr>
          <p:cNvPr id="4" name="cover-meta">
            <a:extLst xmlns:a="http://schemas.openxmlformats.org/drawingml/2006/main">
              <a:ext uri="{FF2B5EF4-FFF2-40B4-BE49-F238E27FC236}">
                <a16:creationId xmlns:a16="http://schemas.microsoft.com/office/drawing/2014/main" id="{7A79085E-1086-4853-8375-B9F549B3C5A8}"/>
              </a:ext>
            </a:extLst>
          </p:cNvPr>
          <p:cNvSpPr>
            <a:spLocks xmlns:a="http://schemas.openxmlformats.org/drawingml/2006/main" noGrp="1"/>
          </p:cNvSpPr>
          <p:nvPr/>
        </p:nvSpPr>
        <p:spPr>
          <a:xfrm xmlns:a="http://schemas.openxmlformats.org/drawingml/2006/main">
            <a:off x="714375" y="50101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B8CBC7"/>
                </a:solidFill>
                <a:latin typeface="Arial"/>
                <a:ea typeface="Arial"/>
                <a:cs typeface="Arial"/>
              </a:defRPr>
            </a:pPr>
            <a:r>
              <a:rPr sz="1725" b="0">
                <a:solidFill>
                  <a:srgbClr val="B8CBC7"/>
                </a:solidFill>
                <a:latin typeface="Arial"/>
                <a:ea typeface="Arial"/>
                <a:cs typeface="Arial"/>
              </a:rPr>
              <a:t>Atelier d’équipe · Casablanca · lundi 5 octobre 2026 · 40 min</a:t>
            </a:r>
          </a:p>
        </p:txBody>
      </p:sp>
    </p:spTree>
    <p:extLst>
      <p:ext uri="{BB962C8B-B14F-4D97-AF65-F5344CB8AC3E}">
        <p14:creationId xmlns:p14="http://schemas.microsoft.com/office/powerpoint/2010/main" val="901557552"/>
      </p:ext>
    </p:extLst>
  </p:cSld>
</p:sld>
</file>

<file path=ppt/slides/slide2.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5" name="title-2">
            <a:extLst xmlns:a="http://schemas.openxmlformats.org/drawingml/2006/main">
              <a:ext uri="{FF2B5EF4-FFF2-40B4-BE49-F238E27FC236}">
                <a16:creationId xmlns:a16="http://schemas.microsoft.com/office/drawing/2014/main" id="{03C0A25D-F4DD-486D-8BE9-936195D68058}"/>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Quel cas d’usage IA prioriseriez-vous ?</a:t>
            </a:r>
          </a:p>
        </p:txBody>
      </p:sp>
      <p:sp>
        <p:nvSpPr>
          <p:cNvPr id="2" name="page-2">
            <a:extLst xmlns:a="http://schemas.openxmlformats.org/drawingml/2006/main">
              <a:ext uri="{FF2B5EF4-FFF2-40B4-BE49-F238E27FC236}">
                <a16:creationId xmlns:a16="http://schemas.microsoft.com/office/drawing/2014/main" id="{7F282459-D5A5-4E20-9F51-86BF96AB0C39}"/>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02</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8e58b65aa3b45b5"/>
          <a:stretch xmlns:a="http://schemas.openxmlformats.org/drawingml/2006/main"/>
        </p:blipFill>
        <p:spPr>
          <a:xfrm xmlns:a="http://schemas.openxmlformats.org/drawingml/2006/main">
            <a:off x="1862667" y="1323975"/>
            <a:ext cx="8466667" cy="4762500"/>
          </a:xfrm>
          <a:prstGeom xmlns:a="http://schemas.openxmlformats.org/drawingml/2006/main" prst="rect">
            <a:avLst/>
          </a:prstGeom>
        </p:spPr>
      </p:pic>
      <p:sp>
        <p:nvSpPr>
          <p:cNvPr id="4" name="fiction-note">
            <a:extLst xmlns:a="http://schemas.openxmlformats.org/drawingml/2006/main">
              <a:ext uri="{FF2B5EF4-FFF2-40B4-BE49-F238E27FC236}">
                <a16:creationId xmlns:a16="http://schemas.microsoft.com/office/drawing/2014/main" id="{BFE2F798-D32A-4238-A0F3-88C16F1BE26D}"/>
              </a:ext>
            </a:extLst>
          </p:cNvPr>
          <p:cNvSpPr>
            <a:spLocks xmlns:a="http://schemas.openxmlformats.org/drawingml/2006/main" noGrp="1"/>
          </p:cNvSpPr>
          <p:nvPr/>
        </p:nvSpPr>
        <p:spPr>
          <a:xfrm xmlns:a="http://schemas.openxmlformats.org/drawingml/2006/main">
            <a:off x="762000" y="6115050"/>
            <a:ext cx="10553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0B604F"/>
                </a:solidFill>
                <a:latin typeface="Arial"/>
                <a:ea typeface="Arial"/>
                <a:cs typeface="Arial"/>
              </a:defRPr>
            </a:pPr>
            <a:r>
              <a:rPr sz="1575" b="1">
                <a:solidFill>
                  <a:srgbClr val="0B604F"/>
                </a:solidFill>
                <a:latin typeface="Arial"/>
                <a:ea typeface="Arial"/>
                <a:cs typeface="Arial"/>
              </a:rPr>
              <a:t>Trois cas fictifs · quatre critères visibles · classement instantané</a:t>
            </a:r>
          </a:p>
        </p:txBody>
      </p:sp>
    </p:spTree>
    <p:extLst>
      <p:ext uri="{BB962C8B-B14F-4D97-AF65-F5344CB8AC3E}">
        <p14:creationId xmlns:p14="http://schemas.microsoft.com/office/powerpoint/2010/main" val="426329777"/>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7" name="title-3">
            <a:extLst xmlns:a="http://schemas.openxmlformats.org/drawingml/2006/main">
              <a:ext uri="{FF2B5EF4-FFF2-40B4-BE49-F238E27FC236}">
                <a16:creationId xmlns:a16="http://schemas.microsoft.com/office/drawing/2014/main" id="{DCA7549F-9855-4749-8A5E-C85069F15F33}"/>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PDSF : clarifier la demande dans le dépôt</a:t>
            </a:r>
          </a:p>
        </p:txBody>
      </p:sp>
      <p:sp>
        <p:nvSpPr>
          <p:cNvPr id="2" name="page-3">
            <a:extLst xmlns:a="http://schemas.openxmlformats.org/drawingml/2006/main">
              <a:ext uri="{FF2B5EF4-FFF2-40B4-BE49-F238E27FC236}">
                <a16:creationId xmlns:a16="http://schemas.microsoft.com/office/drawing/2014/main" id="{05D54369-EE55-4077-89F6-F3F0C1EDD753}"/>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03</a:t>
            </a:r>
          </a:p>
        </p:txBody>
      </p:sp>
      <p:sp>
        <p:nvSpPr>
          <p:cNvPr id="3" name="pdsf-definition">
            <a:extLst xmlns:a="http://schemas.openxmlformats.org/drawingml/2006/main">
              <a:ext uri="{FF2B5EF4-FFF2-40B4-BE49-F238E27FC236}">
                <a16:creationId xmlns:a16="http://schemas.microsoft.com/office/drawing/2014/main" id="{92456E96-52B0-4F9A-9DF7-13B06789EE88}"/>
              </a:ext>
            </a:extLst>
          </p:cNvPr>
          <p:cNvSpPr>
            <a:spLocks xmlns:a="http://schemas.openxmlformats.org/drawingml/2006/main" noGrp="1"/>
          </p:cNvSpPr>
          <p:nvPr/>
        </p:nvSpPr>
        <p:spPr>
          <a:xfrm xmlns:a="http://schemas.openxmlformats.org/drawingml/2006/main">
            <a:off x="666750" y="1438275"/>
            <a:ext cx="1028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14202B"/>
                </a:solidFill>
                <a:latin typeface="Arial"/>
                <a:ea typeface="Arial"/>
                <a:cs typeface="Arial"/>
              </a:defRPr>
            </a:pPr>
            <a:r>
              <a:rPr sz="2325" b="1">
                <a:solidFill>
                  <a:srgbClr val="14202B"/>
                </a:solidFill>
                <a:latin typeface="Arial"/>
                <a:ea typeface="Arial"/>
                <a:cs typeface="Arial"/>
              </a:rPr>
              <a:t>Des skills, des règles de travail et un contexte métier partagés avec l’équipe.</a:t>
            </a:r>
          </a:p>
        </p:txBody>
      </p:sp>
      <p:sp>
        <p:nvSpPr>
          <p:cNvPr id="4" name="pdsf-files">
            <a:extLst xmlns:a="http://schemas.openxmlformats.org/drawingml/2006/main">
              <a:ext uri="{FF2B5EF4-FFF2-40B4-BE49-F238E27FC236}">
                <a16:creationId xmlns:a16="http://schemas.microsoft.com/office/drawing/2014/main" id="{FE1C36A7-47DD-4549-AE4F-AF06D57EF50D}"/>
              </a:ext>
            </a:extLst>
          </p:cNvPr>
          <p:cNvSpPr>
            <a:spLocks xmlns:a="http://schemas.openxmlformats.org/drawingml/2006/main" noGrp="1"/>
          </p:cNvSpPr>
          <p:nvPr/>
        </p:nvSpPr>
        <p:spPr>
          <a:xfrm xmlns:a="http://schemas.openxmlformats.org/drawingml/2006/main">
            <a:off x="723900" y="2781300"/>
            <a:ext cx="461962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0B604F"/>
                </a:solidFill>
                <a:latin typeface="Arial"/>
                <a:ea typeface="Arial"/>
                <a:cs typeface="Arial"/>
              </a:defRPr>
            </a:pPr>
            <a:r>
              <a:rPr sz="2175" b="0">
                <a:solidFill>
                  <a:srgbClr val="0B604F"/>
                </a:solidFill>
                <a:latin typeface="Arial"/>
                <a:ea typeface="Arial"/>
                <a:cs typeface="Arial"/>
              </a:rPr>
              <a:t>AGENTS.md</a:t>
            </a:r>
          </a:p>
          <a:p xmlns:a="http://schemas.openxmlformats.org/drawingml/2006/main">
            <a:pPr algn="l">
              <a:defRPr sz="2175" b="0">
                <a:solidFill>
                  <a:srgbClr val="0B604F"/>
                </a:solidFill>
                <a:latin typeface="Arial"/>
                <a:ea typeface="Arial"/>
                <a:cs typeface="Arial"/>
              </a:defRPr>
            </a:pPr>
            <a:r>
              <a:rPr sz="2175" b="0">
                <a:solidFill>
                  <a:srgbClr val="0B604F"/>
                </a:solidFill>
                <a:latin typeface="Arial"/>
                <a:ea typeface="Arial"/>
                <a:cs typeface="Arial"/>
              </a:rPr>
              <a:t>.agents/skills/</a:t>
            </a:r>
          </a:p>
          <a:p xmlns:a="http://schemas.openxmlformats.org/drawingml/2006/main">
            <a:pPr algn="l">
              <a:defRPr sz="2175" b="0">
                <a:solidFill>
                  <a:srgbClr val="0B604F"/>
                </a:solidFill>
                <a:latin typeface="Arial"/>
                <a:ea typeface="Arial"/>
                <a:cs typeface="Arial"/>
              </a:defRPr>
            </a:pPr>
            <a:r>
              <a:rPr sz="2175" b="0">
                <a:solidFill>
                  <a:srgbClr val="0B604F"/>
                </a:solidFill>
                <a:latin typeface="Arial"/>
                <a:ea typeface="Arial"/>
                <a:cs typeface="Arial"/>
              </a:rPr>
              <a:t>CONTEXT.md</a:t>
            </a:r>
          </a:p>
          <a:p xmlns:a="http://schemas.openxmlformats.org/drawingml/2006/main">
            <a:pPr algn="l">
              <a:defRPr sz="2175" b="0">
                <a:solidFill>
                  <a:srgbClr val="0B604F"/>
                </a:solidFill>
                <a:latin typeface="Arial"/>
                <a:ea typeface="Arial"/>
                <a:cs typeface="Arial"/>
              </a:defRPr>
            </a:pPr>
            <a:r>
              <a:rPr sz="2175" b="0">
                <a:solidFill>
                  <a:srgbClr val="0B604F"/>
                </a:solidFill>
                <a:latin typeface="Arial"/>
                <a:ea typeface="Arial"/>
                <a:cs typeface="Arial"/>
              </a:rPr>
              <a:t>docs/adr/</a:t>
            </a:r>
          </a:p>
        </p:txBody>
      </p:sp>
      <p:sp>
        <p:nvSpPr>
          <p:cNvPr id="5" name="pdsf-bootstrap">
            <a:extLst xmlns:a="http://schemas.openxmlformats.org/drawingml/2006/main">
              <a:ext uri="{FF2B5EF4-FFF2-40B4-BE49-F238E27FC236}">
                <a16:creationId xmlns:a16="http://schemas.microsoft.com/office/drawing/2014/main" id="{E3B3264B-54F7-4B6F-B91D-95962910575C}"/>
              </a:ext>
            </a:extLst>
          </p:cNvPr>
          <p:cNvSpPr>
            <a:spLocks xmlns:a="http://schemas.openxmlformats.org/drawingml/2006/main" noGrp="1"/>
          </p:cNvSpPr>
          <p:nvPr/>
        </p:nvSpPr>
        <p:spPr>
          <a:xfrm xmlns:a="http://schemas.openxmlformats.org/drawingml/2006/main">
            <a:off x="5581650" y="2867025"/>
            <a:ext cx="568642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14202B"/>
                </a:solidFill>
                <a:latin typeface="Arial"/>
                <a:ea typeface="Arial"/>
                <a:cs typeface="Arial"/>
              </a:defRPr>
            </a:pPr>
            <a:r>
              <a:rPr sz="2025" b="0">
                <a:solidFill>
                  <a:srgbClr val="14202B"/>
                </a:solidFill>
                <a:latin typeface="Arial"/>
                <a:ea typeface="Arial"/>
                <a:cs typeface="Arial"/>
              </a:rPr>
              <a:t>/build-factory initialise la méthode.</a:t>
            </a:r>
          </a:p>
          <a:p xmlns:a="http://schemas.openxmlformats.org/drawingml/2006/main">
            <a:pPr algn="l">
              <a:defRPr sz="2025" b="0">
                <a:solidFill>
                  <a:srgbClr val="14202B"/>
                </a:solidFill>
                <a:latin typeface="Arial"/>
                <a:ea typeface="Arial"/>
                <a:cs typeface="Arial"/>
              </a:defRPr>
            </a:pPr>
            <a:r>
              <a:rPr sz="2025" b="0">
                <a:solidFill>
                  <a:srgbClr val="14202B"/>
                </a:solidFill>
                <a:latin typeface="Arial"/>
                <a:ea typeface="Arial"/>
                <a:cs typeface="Arial"/>
              </a:rPr>
              <a:t>Les décisions et le vocabulaire vivent dans le dépôt.</a:t>
            </a:r>
          </a:p>
        </p:txBody>
      </p:sp>
      <p:sp>
        <p:nvSpPr>
          <p:cNvPr id="6" name="pdsf-qualification">
            <a:extLst xmlns:a="http://schemas.openxmlformats.org/drawingml/2006/main">
              <a:ext uri="{FF2B5EF4-FFF2-40B4-BE49-F238E27FC236}">
                <a16:creationId xmlns:a16="http://schemas.microsoft.com/office/drawing/2014/main" id="{6B04834D-E1FE-4061-8DB3-CCD91501A3ED}"/>
              </a:ext>
            </a:extLst>
          </p:cNvPr>
          <p:cNvSpPr>
            <a:spLocks xmlns:a="http://schemas.openxmlformats.org/drawingml/2006/main" noGrp="1"/>
          </p:cNvSpPr>
          <p:nvPr/>
        </p:nvSpPr>
        <p:spPr>
          <a:xfrm xmlns:a="http://schemas.openxmlformats.org/drawingml/2006/main">
            <a:off x="723900" y="5543550"/>
            <a:ext cx="1014412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65727B"/>
                </a:solidFill>
                <a:latin typeface="Arial"/>
                <a:ea typeface="Arial"/>
                <a:cs typeface="Arial"/>
              </a:defRPr>
            </a:pPr>
            <a:r>
              <a:rPr sz="1425" b="0">
                <a:solidFill>
                  <a:srgbClr val="65727B"/>
                </a:solidFill>
                <a:latin typeface="Arial"/>
                <a:ea typeface="Arial"/>
                <a:cs typeface="Arial"/>
              </a:rPr>
              <a:t>Les skills installés guident le travail ; leur présence seule ne prouve pas leur exécution.</a:t>
            </a:r>
          </a:p>
        </p:txBody>
      </p:sp>
    </p:spTree>
    <p:extLst>
      <p:ext uri="{BB962C8B-B14F-4D97-AF65-F5344CB8AC3E}">
        <p14:creationId xmlns:p14="http://schemas.microsoft.com/office/powerpoint/2010/main" val="1735882646"/>
      </p:ext>
    </p:extLst>
  </p:cSld>
</p:sld>
</file>

<file path=ppt/slides/slide4.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6" name="title-4">
            <a:extLst xmlns:a="http://schemas.openxmlformats.org/drawingml/2006/main">
              <a:ext uri="{FF2B5EF4-FFF2-40B4-BE49-F238E27FC236}">
                <a16:creationId xmlns:a16="http://schemas.microsoft.com/office/drawing/2014/main" id="{58B34FE5-9364-4A54-823A-01554ABBB5B8}"/>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Avant le code : deux questions métier</a:t>
            </a:r>
          </a:p>
        </p:txBody>
      </p:sp>
      <p:sp>
        <p:nvSpPr>
          <p:cNvPr id="2" name="page-4">
            <a:extLst xmlns:a="http://schemas.openxmlformats.org/drawingml/2006/main">
              <a:ext uri="{FF2B5EF4-FFF2-40B4-BE49-F238E27FC236}">
                <a16:creationId xmlns:a16="http://schemas.microsoft.com/office/drawing/2014/main" id="{070F339C-A1DC-4BBB-A8DF-4E759C2BDF4D}"/>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04</a:t>
            </a:r>
          </a:p>
        </p:txBody>
      </p:sp>
      <p:sp>
        <p:nvSpPr>
          <p:cNvPr id="3" name="question-01">
            <a:extLst xmlns:a="http://schemas.openxmlformats.org/drawingml/2006/main">
              <a:ext uri="{FF2B5EF4-FFF2-40B4-BE49-F238E27FC236}">
                <a16:creationId xmlns:a16="http://schemas.microsoft.com/office/drawing/2014/main" id="{6C4F3240-B2DB-4F33-BA29-24368D993B39}"/>
              </a:ext>
            </a:extLst>
          </p:cNvPr>
          <p:cNvSpPr>
            <a:spLocks xmlns:a="http://schemas.openxmlformats.org/drawingml/2006/main" noGrp="1"/>
          </p:cNvSpPr>
          <p:nvPr/>
        </p:nvSpPr>
        <p:spPr>
          <a:xfrm xmlns:a="http://schemas.openxmlformats.org/drawingml/2006/main">
            <a:off x="723900" y="1714500"/>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75" b="1">
                <a:solidFill>
                  <a:srgbClr val="0B604F"/>
                </a:solidFill>
                <a:latin typeface="Arial"/>
                <a:ea typeface="Arial"/>
                <a:cs typeface="Arial"/>
              </a:defRPr>
            </a:pPr>
            <a:r>
              <a:rPr sz="2775" b="1">
                <a:solidFill>
                  <a:srgbClr val="0B604F"/>
                </a:solidFill>
                <a:latin typeface="Arial"/>
                <a:ea typeface="Arial"/>
                <a:cs typeface="Arial"/>
              </a:rPr>
              <a:t>À quelle décision servira la note ?</a:t>
            </a:r>
          </a:p>
        </p:txBody>
      </p:sp>
      <p:sp>
        <p:nvSpPr>
          <p:cNvPr id="4" name="question-02">
            <a:extLst xmlns:a="http://schemas.openxmlformats.org/drawingml/2006/main">
              <a:ext uri="{FF2B5EF4-FFF2-40B4-BE49-F238E27FC236}">
                <a16:creationId xmlns:a16="http://schemas.microsoft.com/office/drawing/2014/main" id="{C8D7ABEC-6394-4B6F-9109-14FC56B09F8B}"/>
              </a:ext>
            </a:extLst>
          </p:cNvPr>
          <p:cNvSpPr>
            <a:spLocks xmlns:a="http://schemas.openxmlformats.org/drawingml/2006/main" noGrp="1"/>
          </p:cNvSpPr>
          <p:nvPr/>
        </p:nvSpPr>
        <p:spPr>
          <a:xfrm xmlns:a="http://schemas.openxmlformats.org/drawingml/2006/main">
            <a:off x="723900" y="3171825"/>
            <a:ext cx="103822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75" b="1">
                <a:solidFill>
                  <a:srgbClr val="14202B"/>
                </a:solidFill>
                <a:latin typeface="Arial"/>
                <a:ea typeface="Arial"/>
                <a:cs typeface="Arial"/>
              </a:defRPr>
            </a:pPr>
            <a:r>
              <a:rPr sz="2775" b="1">
                <a:solidFill>
                  <a:srgbClr val="14202B"/>
                </a:solidFill>
                <a:latin typeface="Arial"/>
                <a:ea typeface="Arial"/>
                <a:cs typeface="Arial"/>
              </a:rPr>
              <a:t>Quelle preuve attend-on si un score change ?</a:t>
            </a:r>
          </a:p>
        </p:txBody>
      </p:sp>
      <p:sp>
        <p:nvSpPr>
          <p:cNvPr id="5" name="pdsf-transition">
            <a:extLst xmlns:a="http://schemas.openxmlformats.org/drawingml/2006/main">
              <a:ext uri="{FF2B5EF4-FFF2-40B4-BE49-F238E27FC236}">
                <a16:creationId xmlns:a16="http://schemas.microsoft.com/office/drawing/2014/main" id="{987345F8-15AD-4641-AE02-836AD0E000F3}"/>
              </a:ext>
            </a:extLst>
          </p:cNvPr>
          <p:cNvSpPr>
            <a:spLocks xmlns:a="http://schemas.openxmlformats.org/drawingml/2006/main" noGrp="1"/>
          </p:cNvSpPr>
          <p:nvPr/>
        </p:nvSpPr>
        <p:spPr>
          <a:xfrm xmlns:a="http://schemas.openxmlformats.org/drawingml/2006/main">
            <a:off x="723900" y="5286375"/>
            <a:ext cx="1047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65727B"/>
                </a:solidFill>
                <a:latin typeface="Arial"/>
                <a:ea typeface="Arial"/>
                <a:cs typeface="Arial"/>
              </a:defRPr>
            </a:pPr>
            <a:r>
              <a:rPr sz="1875" b="0">
                <a:solidFill>
                  <a:srgbClr val="65727B"/>
                </a:solidFill>
                <a:latin typeface="Arial"/>
                <a:ea typeface="Arial"/>
                <a:cs typeface="Arial"/>
              </a:rPr>
              <a:t>PDSF aide à transformer les réponses en contexte, critères et ticket vérifiable.</a:t>
            </a:r>
          </a:p>
        </p:txBody>
      </p:sp>
    </p:spTree>
    <p:extLst>
      <p:ext uri="{BB962C8B-B14F-4D97-AF65-F5344CB8AC3E}">
        <p14:creationId xmlns:p14="http://schemas.microsoft.com/office/powerpoint/2010/main" val="1182783600"/>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7" name="title-5">
            <a:extLst xmlns:a="http://schemas.openxmlformats.org/drawingml/2006/main">
              <a:ext uri="{FF2B5EF4-FFF2-40B4-BE49-F238E27FC236}">
                <a16:creationId xmlns:a16="http://schemas.microsoft.com/office/drawing/2014/main" id="{EF9325ED-522F-4982-95B7-FD48F78593D3}"/>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Une vraie issue : la note d’arbitrage</a:t>
            </a:r>
          </a:p>
        </p:txBody>
      </p:sp>
      <p:sp>
        <p:nvSpPr>
          <p:cNvPr id="2" name="page-5">
            <a:extLst xmlns:a="http://schemas.openxmlformats.org/drawingml/2006/main">
              <a:ext uri="{FF2B5EF4-FFF2-40B4-BE49-F238E27FC236}">
                <a16:creationId xmlns:a16="http://schemas.microsoft.com/office/drawing/2014/main" id="{C93024B2-AF68-4497-BCF7-A6101FF7F4C3}"/>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05</a:t>
            </a:r>
          </a:p>
        </p:txBody>
      </p:sp>
      <p:sp>
        <p:nvSpPr>
          <p:cNvPr id="3" name="issue-need">
            <a:extLst xmlns:a="http://schemas.openxmlformats.org/drawingml/2006/main">
              <a:ext uri="{FF2B5EF4-FFF2-40B4-BE49-F238E27FC236}">
                <a16:creationId xmlns:a16="http://schemas.microsoft.com/office/drawing/2014/main" id="{D9244CDB-33C7-4FFA-BF5B-EF5B43509AEC}"/>
              </a:ext>
            </a:extLst>
          </p:cNvPr>
          <p:cNvSpPr>
            <a:spLocks xmlns:a="http://schemas.openxmlformats.org/drawingml/2006/main" noGrp="1"/>
          </p:cNvSpPr>
          <p:nvPr/>
        </p:nvSpPr>
        <p:spPr>
          <a:xfrm xmlns:a="http://schemas.openxmlformats.org/drawingml/2006/main">
            <a:off x="638175" y="1409700"/>
            <a:ext cx="50387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0B604F"/>
                </a:solidFill>
                <a:latin typeface="Arial"/>
                <a:ea typeface="Arial"/>
                <a:cs typeface="Arial"/>
              </a:defRPr>
            </a:pPr>
            <a:r>
              <a:rPr sz="2175" b="1">
                <a:solidFill>
                  <a:srgbClr val="0B604F"/>
                </a:solidFill>
                <a:latin typeface="Arial"/>
                <a:ea typeface="Arial"/>
                <a:cs typeface="Arial"/>
              </a:rPr>
              <a:t>Une synthèse que le responsable peut copier et imprimer.</a:t>
            </a:r>
          </a:p>
        </p:txBody>
      </p:sp>
      <p:sp>
        <p:nvSpPr>
          <p:cNvPr id="4" name="issue-criteria">
            <a:extLst xmlns:a="http://schemas.openxmlformats.org/drawingml/2006/main">
              <a:ext uri="{FF2B5EF4-FFF2-40B4-BE49-F238E27FC236}">
                <a16:creationId xmlns:a16="http://schemas.microsoft.com/office/drawing/2014/main" id="{573FCD42-2E1E-45A0-8B58-93A964081CCE}"/>
              </a:ext>
            </a:extLst>
          </p:cNvPr>
          <p:cNvSpPr>
            <a:spLocks xmlns:a="http://schemas.openxmlformats.org/drawingml/2006/main" noGrp="1"/>
          </p:cNvSpPr>
          <p:nvPr/>
        </p:nvSpPr>
        <p:spPr>
          <a:xfrm xmlns:a="http://schemas.openxmlformats.org/drawingml/2006/main">
            <a:off x="657225" y="2724150"/>
            <a:ext cx="4943475"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14202B"/>
                </a:solidFill>
                <a:latin typeface="Arial"/>
                <a:ea typeface="Arial"/>
                <a:cs typeface="Arial"/>
              </a:defRPr>
            </a:pPr>
            <a:r>
              <a:rPr sz="1875" b="0">
                <a:solidFill>
                  <a:srgbClr val="14202B"/>
                </a:solidFill>
                <a:latin typeface="Arial"/>
                <a:ea typeface="Arial"/>
                <a:cs typeface="Arial"/>
              </a:rPr>
              <a:t>Valeurs mises à jour en direct</a:t>
            </a:r>
          </a:p>
          <a:p xmlns:a="http://schemas.openxmlformats.org/drawingml/2006/main">
            <a:pPr algn="l">
              <a:defRPr sz="1875" b="0">
                <a:solidFill>
                  <a:srgbClr val="14202B"/>
                </a:solidFill>
                <a:latin typeface="Arial"/>
                <a:ea typeface="Arial"/>
                <a:cs typeface="Arial"/>
              </a:defRPr>
            </a:pPr>
            <a:r>
              <a:rPr sz="1875" b="0">
                <a:solidFill>
                  <a:srgbClr val="14202B"/>
                </a:solidFill>
                <a:latin typeface="Arial"/>
                <a:ea typeface="Arial"/>
                <a:cs typeface="Arial"/>
              </a:rPr>
              <a:t>Classement et ex æquo explicites</a:t>
            </a:r>
          </a:p>
          <a:p xmlns:a="http://schemas.openxmlformats.org/drawingml/2006/main">
            <a:pPr algn="l">
              <a:defRPr sz="1875" b="0">
                <a:solidFill>
                  <a:srgbClr val="14202B"/>
                </a:solidFill>
                <a:latin typeface="Arial"/>
                <a:ea typeface="Arial"/>
                <a:cs typeface="Arial"/>
              </a:defRPr>
            </a:pPr>
            <a:r>
              <a:rPr sz="1875" b="0">
                <a:solidFill>
                  <a:srgbClr val="14202B"/>
                </a:solidFill>
                <a:latin typeface="Arial"/>
                <a:ea typeface="Arial"/>
                <a:cs typeface="Arial"/>
              </a:rPr>
              <a:t>Réserves et prochaine étape</a:t>
            </a:r>
          </a:p>
          <a:p xmlns:a="http://schemas.openxmlformats.org/drawingml/2006/main">
            <a:pPr algn="l">
              <a:defRPr sz="1875" b="0">
                <a:solidFill>
                  <a:srgbClr val="14202B"/>
                </a:solidFill>
                <a:latin typeface="Arial"/>
                <a:ea typeface="Arial"/>
                <a:cs typeface="Arial"/>
              </a:defRPr>
            </a:pPr>
            <a:r>
              <a:rPr sz="1875" b="0">
                <a:solidFill>
                  <a:srgbClr val="14202B"/>
                </a:solidFill>
                <a:latin typeface="Arial"/>
                <a:ea typeface="Arial"/>
                <a:cs typeface="Arial"/>
              </a:rPr>
              <a:t>Tests + build vérifiés</a:t>
            </a:r>
          </a:p>
        </p:txBody>
      </p:sp>
      <p:sp>
        <p:nvSpPr>
          <p:cNvPr id="5" name="issue-link">
            <a:extLst xmlns:a="http://schemas.openxmlformats.org/drawingml/2006/main">
              <a:ext uri="{FF2B5EF4-FFF2-40B4-BE49-F238E27FC236}">
                <a16:creationId xmlns:a16="http://schemas.microsoft.com/office/drawing/2014/main" id="{C8EB4DB5-934E-49CF-B683-E2C99A12EB7D}"/>
              </a:ext>
            </a:extLst>
          </p:cNvPr>
          <p:cNvSpPr>
            <a:spLocks xmlns:a="http://schemas.openxmlformats.org/drawingml/2006/main" noGrp="1"/>
          </p:cNvSpPr>
          <p:nvPr/>
        </p:nvSpPr>
        <p:spPr>
          <a:xfrm xmlns:a="http://schemas.openxmlformats.org/drawingml/2006/main">
            <a:off x="657225" y="55054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0B604F"/>
                </a:solidFill>
                <a:latin typeface="Arial"/>
                <a:ea typeface="Arial"/>
                <a:cs typeface="Arial"/>
              </a:defRPr>
            </a:pPr>
            <a:r>
              <a:rPr sz="1500" b="1">
                <a:solidFill>
                  <a:srgbClr val="0B604F"/>
                </a:solidFill>
                <a:latin typeface="Arial"/>
                <a:ea typeface="Arial"/>
                <a:cs typeface="Arial"/>
                <a:hlinkClick xmlns:r="http://schemas.openxmlformats.org/officeDocument/2006/relationships" r:id="R2ddd58ff715a4a7c"/>
              </a:rPr>
              <a:t>GitHub issue #1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03ba64b90224dbd"/>
          <a:stretch xmlns:a="http://schemas.openxmlformats.org/drawingml/2006/main"/>
        </p:blipFill>
        <p:spPr>
          <a:xfrm xmlns:a="http://schemas.openxmlformats.org/drawingml/2006/main">
            <a:off x="5943600" y="2065437"/>
            <a:ext cx="5457825" cy="3070027"/>
          </a:xfrm>
          <a:prstGeom xmlns:a="http://schemas.openxmlformats.org/drawingml/2006/main" prst="rect">
            <a:avLst/>
          </a:prstGeom>
        </p:spPr>
      </p:pic>
    </p:spTree>
    <p:extLst>
      <p:ext uri="{BB962C8B-B14F-4D97-AF65-F5344CB8AC3E}">
        <p14:creationId xmlns:p14="http://schemas.microsoft.com/office/powerpoint/2010/main" val="1254614231"/>
      </p:ext>
    </p:extLst>
  </p:cSld>
</p:sld>
</file>

<file path=ppt/slides/slide6.xml><?xml version="1.0" encoding="utf-8"?>
<p:sld xmlns:p="http://schemas.openxmlformats.org/presentationml/2006/main">
  <p:cSld>
    <p:bg>
      <p:bgPr>
        <a:solidFill xmlns:a="http://schemas.openxmlformats.org/drawingml/2006/main">
          <a:srgbClr val="10212B"/>
        </a:solidFill>
      </p:bgPr>
    </p:bg>
    <p:spTree>
      <p:nvGrpSpPr>
        <p:cNvPr id="1" name=""/>
        <p:cNvGrpSpPr/>
        <p:nvPr/>
      </p:nvGrpSpPr>
      <p:grpSpPr>
        <a:xfrm xmlns:a="http://schemas.openxmlformats.org/drawingml/2006/main"/>
      </p:grpSpPr>
      <p:sp>
        <p:nvSpPr>
          <p:cNvPr id="7" name="title-6">
            <a:extLst xmlns:a="http://schemas.openxmlformats.org/drawingml/2006/main">
              <a:ext uri="{FF2B5EF4-FFF2-40B4-BE49-F238E27FC236}">
                <a16:creationId xmlns:a16="http://schemas.microsoft.com/office/drawing/2014/main" id="{17E2271E-C18F-42CF-8726-B3AB664ADF2C}"/>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FFFFF"/>
                </a:solidFill>
                <a:latin typeface="Arial"/>
                <a:ea typeface="Arial"/>
                <a:cs typeface="Arial"/>
              </a:defRPr>
            </a:pPr>
            <a:r>
              <a:rPr sz="3000" b="1">
                <a:solidFill>
                  <a:srgbClr val="FFFFFF"/>
                </a:solidFill>
                <a:latin typeface="Arial"/>
                <a:ea typeface="Arial"/>
                <a:cs typeface="Arial"/>
              </a:rPr>
              <a:t>PDO : un pipeline, un run, des preuves</a:t>
            </a:r>
          </a:p>
        </p:txBody>
      </p:sp>
      <p:sp>
        <p:nvSpPr>
          <p:cNvPr id="2" name="page-6">
            <a:extLst xmlns:a="http://schemas.openxmlformats.org/drawingml/2006/main">
              <a:ext uri="{FF2B5EF4-FFF2-40B4-BE49-F238E27FC236}">
                <a16:creationId xmlns:a16="http://schemas.microsoft.com/office/drawing/2014/main" id="{B5184D3E-5E8C-43A9-B72C-C4252FE30334}"/>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9BBB9"/>
                </a:solidFill>
                <a:latin typeface="Arial"/>
                <a:ea typeface="Arial"/>
                <a:cs typeface="Arial"/>
              </a:defRPr>
            </a:pPr>
            <a:r>
              <a:rPr sz="1200" b="0">
                <a:solidFill>
                  <a:srgbClr val="A9BBB9"/>
                </a:solidFill>
                <a:latin typeface="Arial"/>
                <a:ea typeface="Arial"/>
                <a:cs typeface="Arial"/>
              </a:rPr>
              <a:t>06</a:t>
            </a:r>
          </a:p>
        </p:txBody>
      </p:sp>
      <p:sp>
        <p:nvSpPr>
          <p:cNvPr id="3" name="pdo-concept-1">
            <a:extLst xmlns:a="http://schemas.openxmlformats.org/drawingml/2006/main">
              <a:ext uri="{FF2B5EF4-FFF2-40B4-BE49-F238E27FC236}">
                <a16:creationId xmlns:a16="http://schemas.microsoft.com/office/drawing/2014/main" id="{1E51AADF-1328-4806-8DC9-6063C296DF8D}"/>
              </a:ext>
            </a:extLst>
          </p:cNvPr>
          <p:cNvSpPr>
            <a:spLocks xmlns:a="http://schemas.openxmlformats.org/drawingml/2006/main" noGrp="1"/>
          </p:cNvSpPr>
          <p:nvPr/>
        </p:nvSpPr>
        <p:spPr>
          <a:xfrm xmlns:a="http://schemas.openxmlformats.org/drawingml/2006/main">
            <a:off x="666750" y="153352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FFFF"/>
                </a:solidFill>
                <a:latin typeface="Arial"/>
                <a:ea typeface="Arial"/>
                <a:cs typeface="Arial"/>
              </a:defRPr>
            </a:pPr>
            <a:r>
              <a:rPr sz="2400" b="1">
                <a:solidFill>
                  <a:srgbClr val="FFFFFF"/>
                </a:solidFill>
                <a:latin typeface="Arial"/>
                <a:ea typeface="Arial"/>
                <a:cs typeface="Arial"/>
              </a:rPr>
              <a:t>Pipeline = séquence de nœuds et de règles</a:t>
            </a:r>
          </a:p>
        </p:txBody>
      </p:sp>
      <p:sp>
        <p:nvSpPr>
          <p:cNvPr id="4" name="pdo-concept-2">
            <a:extLst xmlns:a="http://schemas.openxmlformats.org/drawingml/2006/main">
              <a:ext uri="{FF2B5EF4-FFF2-40B4-BE49-F238E27FC236}">
                <a16:creationId xmlns:a16="http://schemas.microsoft.com/office/drawing/2014/main" id="{417D1593-C924-4407-89F8-8B3D74F19A6D}"/>
              </a:ext>
            </a:extLst>
          </p:cNvPr>
          <p:cNvSpPr>
            <a:spLocks xmlns:a="http://schemas.openxmlformats.org/drawingml/2006/main" noGrp="1"/>
          </p:cNvSpPr>
          <p:nvPr/>
        </p:nvSpPr>
        <p:spPr>
          <a:xfrm xmlns:a="http://schemas.openxmlformats.org/drawingml/2006/main">
            <a:off x="666750" y="27717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FFFF"/>
                </a:solidFill>
                <a:latin typeface="Arial"/>
                <a:ea typeface="Arial"/>
                <a:cs typeface="Arial"/>
              </a:defRPr>
            </a:pPr>
            <a:r>
              <a:rPr sz="2400" b="1">
                <a:solidFill>
                  <a:srgbClr val="FFFFFF"/>
                </a:solidFill>
                <a:latin typeface="Arial"/>
                <a:ea typeface="Arial"/>
                <a:cs typeface="Arial"/>
              </a:rPr>
              <a:t>Run = exécution sur un clone local et une branche</a:t>
            </a:r>
          </a:p>
        </p:txBody>
      </p:sp>
      <p:sp>
        <p:nvSpPr>
          <p:cNvPr id="5" name="pdo-concept-3">
            <a:extLst xmlns:a="http://schemas.openxmlformats.org/drawingml/2006/main">
              <a:ext uri="{FF2B5EF4-FFF2-40B4-BE49-F238E27FC236}">
                <a16:creationId xmlns:a16="http://schemas.microsoft.com/office/drawing/2014/main" id="{37328F5E-7469-455A-8C87-D4483E875D5C}"/>
              </a:ext>
            </a:extLst>
          </p:cNvPr>
          <p:cNvSpPr>
            <a:spLocks xmlns:a="http://schemas.openxmlformats.org/drawingml/2006/main" noGrp="1"/>
          </p:cNvSpPr>
          <p:nvPr/>
        </p:nvSpPr>
        <p:spPr>
          <a:xfrm xmlns:a="http://schemas.openxmlformats.org/drawingml/2006/main">
            <a:off x="666750" y="40290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FFFF"/>
                </a:solidFill>
                <a:latin typeface="Arial"/>
                <a:ea typeface="Arial"/>
                <a:cs typeface="Arial"/>
              </a:defRPr>
            </a:pPr>
            <a:r>
              <a:rPr sz="2400" b="1">
                <a:solidFill>
                  <a:srgbClr val="FFFFFF"/>
                </a:solidFill>
                <a:latin typeface="Arial"/>
                <a:ea typeface="Arial"/>
                <a:cs typeface="Arial"/>
              </a:rPr>
              <a:t>Preuves = entrées, sorties, terminal, diff</a:t>
            </a:r>
          </a:p>
        </p:txBody>
      </p:sp>
      <p:sp>
        <p:nvSpPr>
          <p:cNvPr id="6" name="pdo-question">
            <a:extLst xmlns:a="http://schemas.openxmlformats.org/drawingml/2006/main">
              <a:ext uri="{FF2B5EF4-FFF2-40B4-BE49-F238E27FC236}">
                <a16:creationId xmlns:a16="http://schemas.microsoft.com/office/drawing/2014/main" id="{85573428-6BE1-4C23-9038-997E2393373C}"/>
              </a:ext>
            </a:extLst>
          </p:cNvPr>
          <p:cNvSpPr>
            <a:spLocks xmlns:a="http://schemas.openxmlformats.org/drawingml/2006/main" noGrp="1"/>
          </p:cNvSpPr>
          <p:nvPr/>
        </p:nvSpPr>
        <p:spPr>
          <a:xfrm xmlns:a="http://schemas.openxmlformats.org/drawingml/2006/main">
            <a:off x="666750" y="547687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E9A93C"/>
                </a:solidFill>
                <a:latin typeface="Arial"/>
                <a:ea typeface="Arial"/>
                <a:cs typeface="Arial"/>
              </a:defRPr>
            </a:pPr>
            <a:r>
              <a:rPr sz="1725" b="0">
                <a:solidFill>
                  <a:srgbClr val="E9A93C"/>
                </a:solidFill>
                <a:latin typeface="Arial"/>
                <a:ea typeface="Arial"/>
                <a:cs typeface="Arial"/>
              </a:rPr>
              <a:t>À votre avis : qui vérifie le résultat, et que faire si la revue échoue ?</a:t>
            </a:r>
          </a:p>
        </p:txBody>
      </p:sp>
    </p:spTree>
    <p:extLst>
      <p:ext uri="{BB962C8B-B14F-4D97-AF65-F5344CB8AC3E}">
        <p14:creationId xmlns:p14="http://schemas.microsoft.com/office/powerpoint/2010/main" val="2041909737"/>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9" name="title-7">
            <a:extLst xmlns:a="http://schemas.openxmlformats.org/drawingml/2006/main">
              <a:ext uri="{FF2B5EF4-FFF2-40B4-BE49-F238E27FC236}">
                <a16:creationId xmlns:a16="http://schemas.microsoft.com/office/drawing/2014/main" id="{1E28E311-C4E9-4BFE-B9DA-814D99236BAA}"/>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Le vrai pipeline : retour limité en cas d’échec</a:t>
            </a:r>
          </a:p>
        </p:txBody>
      </p:sp>
      <p:sp>
        <p:nvSpPr>
          <p:cNvPr id="2" name="page-7">
            <a:extLst xmlns:a="http://schemas.openxmlformats.org/drawingml/2006/main">
              <a:ext uri="{FF2B5EF4-FFF2-40B4-BE49-F238E27FC236}">
                <a16:creationId xmlns:a16="http://schemas.microsoft.com/office/drawing/2014/main" id="{824AFDB2-F7F3-48DA-8F83-1FDCAB506B61}"/>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07</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79703f975be498b"/>
          <a:stretch xmlns:a="http://schemas.openxmlformats.org/drawingml/2006/main"/>
        </p:blipFill>
        <p:spPr>
          <a:xfrm xmlns:a="http://schemas.openxmlformats.org/drawingml/2006/main">
            <a:off x="590550" y="1917138"/>
            <a:ext cx="11010900" cy="1461624"/>
          </a:xfrm>
          <a:prstGeom xmlns:a="http://schemas.openxmlformats.org/drawingml/2006/main" prst="rect">
            <a:avLst/>
          </a:prstGeom>
        </p:spPr>
      </p:pic>
      <p:sp>
        <p:nvSpPr>
          <p:cNvPr id="4" name="pipeline-read">
            <a:extLst xmlns:a="http://schemas.openxmlformats.org/drawingml/2006/main">
              <a:ext uri="{FF2B5EF4-FFF2-40B4-BE49-F238E27FC236}">
                <a16:creationId xmlns:a16="http://schemas.microsoft.com/office/drawing/2014/main" id="{8BDF74DA-E97E-4281-BC4B-594A2E9C7C97}"/>
              </a:ext>
            </a:extLst>
          </p:cNvPr>
          <p:cNvSpPr>
            <a:spLocks xmlns:a="http://schemas.openxmlformats.org/drawingml/2006/main" noGrp="1"/>
          </p:cNvSpPr>
          <p:nvPr/>
        </p:nvSpPr>
        <p:spPr>
          <a:xfrm xmlns:a="http://schemas.openxmlformats.org/drawingml/2006/main">
            <a:off x="676275" y="4000500"/>
            <a:ext cx="50577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0B604F"/>
                </a:solidFill>
                <a:latin typeface="Arial"/>
                <a:ea typeface="Arial"/>
                <a:cs typeface="Arial"/>
              </a:defRPr>
            </a:pPr>
            <a:r>
              <a:rPr sz="1800" b="0">
                <a:solidFill>
                  <a:srgbClr val="0B604F"/>
                </a:solidFill>
                <a:latin typeface="Arial"/>
                <a:ea typeface="Arial"/>
                <a:cs typeface="Arial"/>
              </a:rPr>
              <a:t>Lire le ticket</a:t>
            </a:r>
          </a:p>
          <a:p xmlns:a="http://schemas.openxmlformats.org/drawingml/2006/main">
            <a:pPr algn="l">
              <a:defRPr sz="1800" b="0">
                <a:solidFill>
                  <a:srgbClr val="0B604F"/>
                </a:solidFill>
                <a:latin typeface="Arial"/>
                <a:ea typeface="Arial"/>
                <a:cs typeface="Arial"/>
              </a:defRPr>
            </a:pPr>
            <a:r>
              <a:rPr sz="1800" b="0">
                <a:solidFill>
                  <a:srgbClr val="0B604F"/>
                </a:solidFill>
                <a:latin typeface="Arial"/>
                <a:ea typeface="Arial"/>
                <a:cs typeface="Arial"/>
              </a:rPr>
              <a:t>Résumer l’issue et ses critères</a:t>
            </a:r>
          </a:p>
        </p:txBody>
      </p:sp>
      <p:sp>
        <p:nvSpPr>
          <p:cNvPr id="5" name="pipeline-build">
            <a:extLst xmlns:a="http://schemas.openxmlformats.org/drawingml/2006/main">
              <a:ext uri="{FF2B5EF4-FFF2-40B4-BE49-F238E27FC236}">
                <a16:creationId xmlns:a16="http://schemas.microsoft.com/office/drawing/2014/main" id="{767CA105-166A-4203-BA25-C6C863334296}"/>
              </a:ext>
            </a:extLst>
          </p:cNvPr>
          <p:cNvSpPr>
            <a:spLocks xmlns:a="http://schemas.openxmlformats.org/drawingml/2006/main" noGrp="1"/>
          </p:cNvSpPr>
          <p:nvPr/>
        </p:nvSpPr>
        <p:spPr>
          <a:xfrm xmlns:a="http://schemas.openxmlformats.org/drawingml/2006/main">
            <a:off x="6191250" y="4000500"/>
            <a:ext cx="5143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14202B"/>
                </a:solidFill>
                <a:latin typeface="Arial"/>
                <a:ea typeface="Arial"/>
                <a:cs typeface="Arial"/>
              </a:defRPr>
            </a:pPr>
            <a:r>
              <a:rPr sz="1800" b="0">
                <a:solidFill>
                  <a:srgbClr val="14202B"/>
                </a:solidFill>
                <a:latin typeface="Arial"/>
                <a:ea typeface="Arial"/>
                <a:cs typeface="Arial"/>
              </a:rPr>
              <a:t>Développer la fonction</a:t>
            </a:r>
          </a:p>
          <a:p xmlns:a="http://schemas.openxmlformats.org/drawingml/2006/main">
            <a:pPr algn="l">
              <a:defRPr sz="1800" b="0">
                <a:solidFill>
                  <a:srgbClr val="14202B"/>
                </a:solidFill>
                <a:latin typeface="Arial"/>
                <a:ea typeface="Arial"/>
                <a:cs typeface="Arial"/>
              </a:defRPr>
            </a:pPr>
            <a:r>
              <a:rPr sz="1800" b="0">
                <a:solidFill>
                  <a:srgbClr val="14202B"/>
                </a:solidFill>
                <a:latin typeface="Arial"/>
                <a:ea typeface="Arial"/>
                <a:cs typeface="Arial"/>
              </a:rPr>
              <a:t>Modifier le code du run</a:t>
            </a:r>
          </a:p>
        </p:txBody>
      </p:sp>
      <p:sp>
        <p:nvSpPr>
          <p:cNvPr id="6" name="pipeline-review">
            <a:extLst xmlns:a="http://schemas.openxmlformats.org/drawingml/2006/main">
              <a:ext uri="{FF2B5EF4-FFF2-40B4-BE49-F238E27FC236}">
                <a16:creationId xmlns:a16="http://schemas.microsoft.com/office/drawing/2014/main" id="{A6EC5DF4-95AA-416D-AB5D-5588DE9B419B}"/>
              </a:ext>
            </a:extLst>
          </p:cNvPr>
          <p:cNvSpPr>
            <a:spLocks xmlns:a="http://schemas.openxmlformats.org/drawingml/2006/main" noGrp="1"/>
          </p:cNvSpPr>
          <p:nvPr/>
        </p:nvSpPr>
        <p:spPr>
          <a:xfrm xmlns:a="http://schemas.openxmlformats.org/drawingml/2006/main">
            <a:off x="676275" y="5172075"/>
            <a:ext cx="5048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14202B"/>
                </a:solidFill>
                <a:latin typeface="Arial"/>
                <a:ea typeface="Arial"/>
                <a:cs typeface="Arial"/>
              </a:defRPr>
            </a:pPr>
            <a:r>
              <a:rPr sz="1800" b="0">
                <a:solidFill>
                  <a:srgbClr val="14202B"/>
                </a:solidFill>
                <a:latin typeface="Arial"/>
                <a:ea typeface="Arial"/>
                <a:cs typeface="Arial"/>
              </a:rPr>
              <a:t>Vérifier la fonction</a:t>
            </a:r>
          </a:p>
          <a:p xmlns:a="http://schemas.openxmlformats.org/drawingml/2006/main">
            <a:pPr algn="l">
              <a:defRPr sz="1800" b="0">
                <a:solidFill>
                  <a:srgbClr val="14202B"/>
                </a:solidFill>
                <a:latin typeface="Arial"/>
                <a:ea typeface="Arial"/>
                <a:cs typeface="Arial"/>
              </a:defRPr>
            </a:pPr>
            <a:r>
              <a:rPr sz="1800" b="0">
                <a:solidFill>
                  <a:srgbClr val="14202B"/>
                </a:solidFill>
                <a:latin typeface="Arial"/>
                <a:ea typeface="Arial"/>
                <a:cs typeface="Arial"/>
              </a:rPr>
              <a:t>Tests, build et verdict</a:t>
            </a:r>
          </a:p>
        </p:txBody>
      </p:sp>
      <p:sp>
        <p:nvSpPr>
          <p:cNvPr id="7" name="pipeline-brief">
            <a:extLst xmlns:a="http://schemas.openxmlformats.org/drawingml/2006/main">
              <a:ext uri="{FF2B5EF4-FFF2-40B4-BE49-F238E27FC236}">
                <a16:creationId xmlns:a16="http://schemas.microsoft.com/office/drawing/2014/main" id="{C18383C6-E0B8-474D-9F8D-4AA9F8FB31D4}"/>
              </a:ext>
            </a:extLst>
          </p:cNvPr>
          <p:cNvSpPr>
            <a:spLocks xmlns:a="http://schemas.openxmlformats.org/drawingml/2006/main" noGrp="1"/>
          </p:cNvSpPr>
          <p:nvPr/>
        </p:nvSpPr>
        <p:spPr>
          <a:xfrm xmlns:a="http://schemas.openxmlformats.org/drawingml/2006/main">
            <a:off x="6191250" y="5172075"/>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14202B"/>
                </a:solidFill>
                <a:latin typeface="Arial"/>
                <a:ea typeface="Arial"/>
                <a:cs typeface="Arial"/>
              </a:defRPr>
            </a:pPr>
            <a:r>
              <a:rPr sz="1800" b="0">
                <a:solidFill>
                  <a:srgbClr val="14202B"/>
                </a:solidFill>
                <a:latin typeface="Arial"/>
                <a:ea typeface="Arial"/>
                <a:cs typeface="Arial"/>
              </a:rPr>
              <a:t>Brief manager</a:t>
            </a:r>
          </a:p>
          <a:p xmlns:a="http://schemas.openxmlformats.org/drawingml/2006/main">
            <a:pPr algn="l">
              <a:defRPr sz="1800" b="0">
                <a:solidFill>
                  <a:srgbClr val="14202B"/>
                </a:solidFill>
                <a:latin typeface="Arial"/>
                <a:ea typeface="Arial"/>
                <a:cs typeface="Arial"/>
              </a:defRPr>
            </a:pPr>
            <a:r>
              <a:rPr sz="1800" b="0">
                <a:solidFill>
                  <a:srgbClr val="14202B"/>
                </a:solidFill>
                <a:latin typeface="Arial"/>
                <a:ea typeface="Arial"/>
                <a:cs typeface="Arial"/>
              </a:rPr>
              <a:t>Synthèse après verdict pass</a:t>
            </a:r>
          </a:p>
        </p:txBody>
      </p:sp>
      <p:sp>
        <p:nvSpPr>
          <p:cNvPr id="8" name="pipeline-branch">
            <a:extLst xmlns:a="http://schemas.openxmlformats.org/drawingml/2006/main">
              <a:ext uri="{FF2B5EF4-FFF2-40B4-BE49-F238E27FC236}">
                <a16:creationId xmlns:a16="http://schemas.microsoft.com/office/drawing/2014/main" id="{019376E8-791D-407D-A9DA-0D1A34370C08}"/>
              </a:ext>
            </a:extLst>
          </p:cNvPr>
          <p:cNvSpPr>
            <a:spLocks xmlns:a="http://schemas.openxmlformats.org/drawingml/2006/main" noGrp="1"/>
          </p:cNvSpPr>
          <p:nvPr/>
        </p:nvSpPr>
        <p:spPr>
          <a:xfrm xmlns:a="http://schemas.openxmlformats.org/drawingml/2006/main">
            <a:off x="676275" y="6153150"/>
            <a:ext cx="10620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65727B"/>
                </a:solidFill>
                <a:latin typeface="Arial"/>
                <a:ea typeface="Arial"/>
                <a:cs typeface="Arial"/>
              </a:defRPr>
            </a:pPr>
            <a:r>
              <a:rPr sz="1350" b="0">
                <a:solidFill>
                  <a:srgbClr val="65727B"/>
                </a:solidFill>
                <a:latin typeface="Arial"/>
                <a:ea typeface="Arial"/>
                <a:cs typeface="Arial"/>
              </a:rPr>
              <a:t>Si échec : retour vers le développement, 3 passages maximum.</a:t>
            </a:r>
          </a:p>
        </p:txBody>
      </p:sp>
    </p:spTree>
    <p:extLst>
      <p:ext uri="{BB962C8B-B14F-4D97-AF65-F5344CB8AC3E}">
        <p14:creationId xmlns:p14="http://schemas.microsoft.com/office/powerpoint/2010/main" val="1618507941"/>
      </p:ext>
    </p:extLst>
  </p:cSld>
</p:sld>
</file>

<file path=ppt/slides/slide8.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6" name="title-8">
            <a:extLst xmlns:a="http://schemas.openxmlformats.org/drawingml/2006/main">
              <a:ext uri="{FF2B5EF4-FFF2-40B4-BE49-F238E27FC236}">
                <a16:creationId xmlns:a16="http://schemas.microsoft.com/office/drawing/2014/main" id="{B9E647F3-9F08-4846-B25E-6AE751423998}"/>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Avant Launch : cinq choix à vérifier</a:t>
            </a:r>
          </a:p>
        </p:txBody>
      </p:sp>
      <p:sp>
        <p:nvSpPr>
          <p:cNvPr id="2" name="page-8">
            <a:extLst xmlns:a="http://schemas.openxmlformats.org/drawingml/2006/main">
              <a:ext uri="{FF2B5EF4-FFF2-40B4-BE49-F238E27FC236}">
                <a16:creationId xmlns:a16="http://schemas.microsoft.com/office/drawing/2014/main" id="{8EEA2D29-A7F8-4424-A219-F82E86BCF8F1}"/>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08</a:t>
            </a:r>
          </a:p>
        </p:txBody>
      </p:sp>
      <p:sp>
        <p:nvSpPr>
          <p:cNvPr id="3" name="run-choices">
            <a:extLst xmlns:a="http://schemas.openxmlformats.org/drawingml/2006/main">
              <a:ext uri="{FF2B5EF4-FFF2-40B4-BE49-F238E27FC236}">
                <a16:creationId xmlns:a16="http://schemas.microsoft.com/office/drawing/2014/main" id="{7D95E6EC-A2E0-44AC-AADB-76CC97C4B2A1}"/>
              </a:ext>
            </a:extLst>
          </p:cNvPr>
          <p:cNvSpPr>
            <a:spLocks xmlns:a="http://schemas.openxmlformats.org/drawingml/2006/main" noGrp="1"/>
          </p:cNvSpPr>
          <p:nvPr/>
        </p:nvSpPr>
        <p:spPr>
          <a:xfrm xmlns:a="http://schemas.openxmlformats.org/drawingml/2006/main">
            <a:off x="666750" y="1504950"/>
            <a:ext cx="5095875"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14202B"/>
                </a:solidFill>
                <a:latin typeface="Arial"/>
                <a:ea typeface="Arial"/>
                <a:cs typeface="Arial"/>
              </a:defRPr>
            </a:pPr>
            <a:r>
              <a:rPr sz="2025" b="1">
                <a:solidFill>
                  <a:srgbClr val="14202B"/>
                </a:solidFill>
                <a:latin typeface="Arial"/>
                <a:ea typeface="Arial"/>
                <a:cs typeface="Arial"/>
              </a:rPr>
              <a:t>1  Dépôt local Ubuntu</a:t>
            </a:r>
          </a:p>
          <a:p xmlns:a="http://schemas.openxmlformats.org/drawingml/2006/main">
            <a:pPr algn="l">
              <a:defRPr sz="2025" b="1">
                <a:solidFill>
                  <a:srgbClr val="14202B"/>
                </a:solidFill>
                <a:latin typeface="Arial"/>
                <a:ea typeface="Arial"/>
                <a:cs typeface="Arial"/>
              </a:defRPr>
            </a:pPr>
            <a:r>
              <a:rPr sz="2025" b="1">
                <a:solidFill>
                  <a:srgbClr val="14202B"/>
                </a:solidFill>
                <a:latin typeface="Arial"/>
                <a:ea typeface="Arial"/>
                <a:cs typeface="Arial"/>
              </a:rPr>
              <a:t>2  Branche source</a:t>
            </a:r>
          </a:p>
          <a:p xmlns:a="http://schemas.openxmlformats.org/drawingml/2006/main">
            <a:pPr algn="l">
              <a:defRPr sz="2025" b="1">
                <a:solidFill>
                  <a:srgbClr val="14202B"/>
                </a:solidFill>
                <a:latin typeface="Arial"/>
                <a:ea typeface="Arial"/>
                <a:cs typeface="Arial"/>
              </a:defRPr>
            </a:pPr>
            <a:r>
              <a:rPr sz="2025" b="1">
                <a:solidFill>
                  <a:srgbClr val="14202B"/>
                </a:solidFill>
                <a:latin typeface="Arial"/>
                <a:ea typeface="Arial"/>
                <a:cs typeface="Arial"/>
              </a:rPr>
              <a:t>3  Pipeline atelier-radar-ia</a:t>
            </a:r>
          </a:p>
          <a:p xmlns:a="http://schemas.openxmlformats.org/drawingml/2006/main">
            <a:pPr algn="l">
              <a:defRPr sz="2025" b="1">
                <a:solidFill>
                  <a:srgbClr val="14202B"/>
                </a:solidFill>
                <a:latin typeface="Arial"/>
                <a:ea typeface="Arial"/>
                <a:cs typeface="Arial"/>
              </a:defRPr>
            </a:pPr>
            <a:r>
              <a:rPr sz="2025" b="1">
                <a:solidFill>
                  <a:srgbClr val="14202B"/>
                </a:solidFill>
                <a:latin typeface="Arial"/>
                <a:ea typeface="Arial"/>
                <a:cs typeface="Arial"/>
              </a:rPr>
              <a:t>4  Agent Claude Code configuré</a:t>
            </a:r>
          </a:p>
          <a:p xmlns:a="http://schemas.openxmlformats.org/drawingml/2006/main">
            <a:pPr algn="l">
              <a:defRPr sz="2025" b="1">
                <a:solidFill>
                  <a:srgbClr val="14202B"/>
                </a:solidFill>
                <a:latin typeface="Arial"/>
                <a:ea typeface="Arial"/>
                <a:cs typeface="Arial"/>
              </a:defRPr>
            </a:pPr>
            <a:r>
              <a:rPr sz="2025" b="1">
                <a:solidFill>
                  <a:srgbClr val="14202B"/>
                </a:solidFill>
                <a:latin typeface="Arial"/>
                <a:ea typeface="Arial"/>
                <a:cs typeface="Arial"/>
              </a:rPr>
              <a:t>5  Prompt avec l’URL de l’issue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0d2bcfe5be64e37"/>
          <a:stretch xmlns:a="http://schemas.openxmlformats.org/drawingml/2006/main"/>
        </p:blipFill>
        <p:spPr>
          <a:xfrm xmlns:a="http://schemas.openxmlformats.org/drawingml/2006/main">
            <a:off x="7603627" y="1304925"/>
            <a:ext cx="2490196" cy="4762500"/>
          </a:xfrm>
          <a:prstGeom xmlns:a="http://schemas.openxmlformats.org/drawingml/2006/main" prst="rect">
            <a:avLst/>
          </a:prstGeom>
        </p:spPr>
      </p:pic>
      <p:sp>
        <p:nvSpPr>
          <p:cNvPr id="5" name="run-not-link">
            <a:extLst xmlns:a="http://schemas.openxmlformats.org/drawingml/2006/main">
              <a:ext uri="{FF2B5EF4-FFF2-40B4-BE49-F238E27FC236}">
                <a16:creationId xmlns:a16="http://schemas.microsoft.com/office/drawing/2014/main" id="{5E577C77-5807-4F6B-91AE-0436C54E8F96}"/>
              </a:ext>
            </a:extLst>
          </p:cNvPr>
          <p:cNvSpPr>
            <a:spLocks xmlns:a="http://schemas.openxmlformats.org/drawingml/2006/main" noGrp="1"/>
          </p:cNvSpPr>
          <p:nvPr/>
        </p:nvSpPr>
        <p:spPr>
          <a:xfrm xmlns:a="http://schemas.openxmlformats.org/drawingml/2006/main">
            <a:off x="647700" y="5924550"/>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B44734"/>
                </a:solidFill>
                <a:latin typeface="Arial"/>
                <a:ea typeface="Arial"/>
                <a:cs typeface="Arial"/>
              </a:defRPr>
            </a:pPr>
            <a:r>
              <a:rPr sz="1575" b="0">
                <a:solidFill>
                  <a:srgbClr val="B44734"/>
                </a:solidFill>
                <a:latin typeface="Arial"/>
                <a:ea typeface="Arial"/>
                <a:cs typeface="Arial"/>
              </a:rPr>
              <a:t>PDO reçoit un chemin de clone local, pas l’URL du dépôt GitHub.</a:t>
            </a:r>
          </a:p>
        </p:txBody>
      </p:sp>
    </p:spTree>
    <p:extLst>
      <p:ext uri="{BB962C8B-B14F-4D97-AF65-F5344CB8AC3E}">
        <p14:creationId xmlns:p14="http://schemas.microsoft.com/office/powerpoint/2010/main" val="20601137"/>
      </p:ext>
    </p:extLst>
  </p:cSld>
</p:sld>
</file>

<file path=ppt/slides/slide9.xml><?xml version="1.0" encoding="utf-8"?>
<p:sld xmlns:p="http://schemas.openxmlformats.org/presentationml/2006/main">
  <p:cSld>
    <p:bg>
      <p:bgPr>
        <a:solidFill xmlns:a="http://schemas.openxmlformats.org/drawingml/2006/main">
          <a:srgbClr val="10212B"/>
        </a:solidFill>
      </p:bgPr>
    </p:bg>
    <p:spTree>
      <p:nvGrpSpPr>
        <p:cNvPr id="1" name=""/>
        <p:cNvGrpSpPr/>
        <p:nvPr/>
      </p:nvGrpSpPr>
      <p:grpSpPr>
        <a:xfrm xmlns:a="http://schemas.openxmlformats.org/drawingml/2006/main"/>
      </p:grpSpPr>
      <p:sp>
        <p:nvSpPr>
          <p:cNvPr id="7" name="title-9">
            <a:extLst xmlns:a="http://schemas.openxmlformats.org/drawingml/2006/main">
              <a:ext uri="{FF2B5EF4-FFF2-40B4-BE49-F238E27FC236}">
                <a16:creationId xmlns:a16="http://schemas.microsoft.com/office/drawing/2014/main" id="{3555928E-7766-4E56-8FC1-6C284F335B61}"/>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FFFFF"/>
                </a:solidFill>
                <a:latin typeface="Arial"/>
                <a:ea typeface="Arial"/>
                <a:cs typeface="Arial"/>
              </a:defRPr>
            </a:pPr>
            <a:r>
              <a:rPr sz="3000" b="1">
                <a:solidFill>
                  <a:srgbClr val="FFFFFF"/>
                </a:solidFill>
                <a:latin typeface="Arial"/>
                <a:ea typeface="Arial"/>
                <a:cs typeface="Arial"/>
              </a:rPr>
              <a:t>Lancement en direct, inspection sur un run terminé</a:t>
            </a:r>
          </a:p>
        </p:txBody>
      </p:sp>
      <p:sp>
        <p:nvSpPr>
          <p:cNvPr id="2" name="page-9">
            <a:extLst xmlns:a="http://schemas.openxmlformats.org/drawingml/2006/main">
              <a:ext uri="{FF2B5EF4-FFF2-40B4-BE49-F238E27FC236}">
                <a16:creationId xmlns:a16="http://schemas.microsoft.com/office/drawing/2014/main" id="{59954C6B-2C15-4F47-A709-8E28701B3468}"/>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9BBB9"/>
                </a:solidFill>
                <a:latin typeface="Arial"/>
                <a:ea typeface="Arial"/>
                <a:cs typeface="Arial"/>
              </a:defRPr>
            </a:pPr>
            <a:r>
              <a:rPr sz="1200" b="0">
                <a:solidFill>
                  <a:srgbClr val="A9BBB9"/>
                </a:solidFill>
                <a:latin typeface="Arial"/>
                <a:ea typeface="Arial"/>
                <a:cs typeface="Arial"/>
              </a:rPr>
              <a:t>09</a:t>
            </a:r>
          </a:p>
        </p:txBody>
      </p:sp>
      <p:sp>
        <p:nvSpPr>
          <p:cNvPr id="3" name="live-launch">
            <a:extLst xmlns:a="http://schemas.openxmlformats.org/drawingml/2006/main">
              <a:ext uri="{FF2B5EF4-FFF2-40B4-BE49-F238E27FC236}">
                <a16:creationId xmlns:a16="http://schemas.microsoft.com/office/drawing/2014/main" id="{61F0E02F-E079-4A5E-B194-9C82776B4B41}"/>
              </a:ext>
            </a:extLst>
          </p:cNvPr>
          <p:cNvSpPr>
            <a:spLocks xmlns:a="http://schemas.openxmlformats.org/drawingml/2006/main" noGrp="1"/>
          </p:cNvSpPr>
          <p:nvPr/>
        </p:nvSpPr>
        <p:spPr>
          <a:xfrm xmlns:a="http://schemas.openxmlformats.org/drawingml/2006/main">
            <a:off x="666750" y="1666875"/>
            <a:ext cx="1076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FFFFF"/>
                </a:solidFill>
                <a:latin typeface="Arial"/>
                <a:ea typeface="Arial"/>
                <a:cs typeface="Arial"/>
              </a:defRPr>
            </a:pPr>
            <a:r>
              <a:rPr sz="3000" b="1">
                <a:solidFill>
                  <a:srgbClr val="FFFFFF"/>
                </a:solidFill>
                <a:latin typeface="Arial"/>
                <a:ea typeface="Arial"/>
                <a:cs typeface="Arial"/>
              </a:rPr>
              <a:t>Launch une fois</a:t>
            </a:r>
          </a:p>
        </p:txBody>
      </p:sp>
      <p:sp>
        <p:nvSpPr>
          <p:cNvPr id="4" name="live-id">
            <a:extLst xmlns:a="http://schemas.openxmlformats.org/drawingml/2006/main">
              <a:ext uri="{FF2B5EF4-FFF2-40B4-BE49-F238E27FC236}">
                <a16:creationId xmlns:a16="http://schemas.microsoft.com/office/drawing/2014/main" id="{0D5C6E9C-9EFB-410A-BFBC-E4C9A02A0984}"/>
              </a:ext>
            </a:extLst>
          </p:cNvPr>
          <p:cNvSpPr>
            <a:spLocks xmlns:a="http://schemas.openxmlformats.org/drawingml/2006/main" noGrp="1"/>
          </p:cNvSpPr>
          <p:nvPr/>
        </p:nvSpPr>
        <p:spPr>
          <a:xfrm xmlns:a="http://schemas.openxmlformats.org/drawingml/2006/main">
            <a:off x="666750" y="25431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B8CBC7"/>
                </a:solidFill>
                <a:latin typeface="Arial"/>
                <a:ea typeface="Arial"/>
                <a:cs typeface="Arial"/>
              </a:defRPr>
            </a:pPr>
            <a:r>
              <a:rPr sz="1950" b="0">
                <a:solidFill>
                  <a:srgbClr val="B8CBC7"/>
                </a:solidFill>
                <a:latin typeface="Arial"/>
                <a:ea typeface="Arial"/>
                <a:cs typeface="Arial"/>
              </a:rPr>
              <a:t>Noter l’ID affiché par PDO lundi</a:t>
            </a:r>
          </a:p>
        </p:txBody>
      </p:sp>
      <p:sp>
        <p:nvSpPr>
          <p:cNvPr id="5" name="prepared-label">
            <a:extLst xmlns:a="http://schemas.openxmlformats.org/drawingml/2006/main">
              <a:ext uri="{FF2B5EF4-FFF2-40B4-BE49-F238E27FC236}">
                <a16:creationId xmlns:a16="http://schemas.microsoft.com/office/drawing/2014/main" id="{F6181420-2CEF-498C-94D2-44C927C5F3D5}"/>
              </a:ext>
            </a:extLst>
          </p:cNvPr>
          <p:cNvSpPr>
            <a:spLocks xmlns:a="http://schemas.openxmlformats.org/drawingml/2006/main" noGrp="1"/>
          </p:cNvSpPr>
          <p:nvPr/>
        </p:nvSpPr>
        <p:spPr>
          <a:xfrm xmlns:a="http://schemas.openxmlformats.org/drawingml/2006/main">
            <a:off x="666750" y="3867150"/>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FFFF"/>
                </a:solidFill>
                <a:latin typeface="Arial"/>
                <a:ea typeface="Arial"/>
                <a:cs typeface="Arial"/>
              </a:defRPr>
            </a:pPr>
            <a:r>
              <a:rPr sz="2400" b="1">
                <a:solidFill>
                  <a:srgbClr val="FFFFFF"/>
                </a:solidFill>
                <a:latin typeface="Arial"/>
                <a:ea typeface="Arial"/>
                <a:cs typeface="Arial"/>
              </a:rPr>
              <a:t>Run préparé et inspecté</a:t>
            </a:r>
          </a:p>
        </p:txBody>
      </p:sp>
      <p:sp>
        <p:nvSpPr>
          <p:cNvPr id="6" name="prepared-id">
            <a:extLst xmlns:a="http://schemas.openxmlformats.org/drawingml/2006/main">
              <a:ext uri="{FF2B5EF4-FFF2-40B4-BE49-F238E27FC236}">
                <a16:creationId xmlns:a16="http://schemas.microsoft.com/office/drawing/2014/main" id="{8FB388A1-A71B-4BDD-B01C-EF601D868ECC}"/>
              </a:ext>
            </a:extLst>
          </p:cNvPr>
          <p:cNvSpPr>
            <a:spLocks xmlns:a="http://schemas.openxmlformats.org/drawingml/2006/main" noGrp="1"/>
          </p:cNvSpPr>
          <p:nvPr/>
        </p:nvSpPr>
        <p:spPr>
          <a:xfrm xmlns:a="http://schemas.openxmlformats.org/drawingml/2006/main">
            <a:off x="666750" y="465772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E9A93C"/>
                </a:solidFill>
                <a:latin typeface="Arial"/>
                <a:ea typeface="Arial"/>
                <a:cs typeface="Arial"/>
              </a:defRPr>
            </a:pPr>
            <a:r>
              <a:rPr sz="1950" b="0">
                <a:solidFill>
                  <a:srgbClr val="E9A93C"/>
                </a:solidFill>
                <a:latin typeface="Arial"/>
                <a:ea typeface="Arial"/>
                <a:cs typeface="Arial"/>
                <a:hlinkClick xmlns:r="http://schemas.openxmlformats.org/officeDocument/2006/relationships" r:id="R09de163c843948ba"/>
              </a:rPr>
              <a:t>20261001-183530-abd2d8d</a:t>
            </a:r>
          </a:p>
        </p:txBody>
      </p:sp>
    </p:spTree>
    <p:extLst>
      <p:ext uri="{BB962C8B-B14F-4D97-AF65-F5344CB8AC3E}">
        <p14:creationId xmlns:p14="http://schemas.microsoft.com/office/powerpoint/2010/main" val="1632263935"/>
      </p:ext>
    </p:extLst>
  </p:cSld>
</p:sld>
</file>

<file path=ppt/slides/slide10.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6" name="title-10">
            <a:extLst xmlns:a="http://schemas.openxmlformats.org/drawingml/2006/main">
              <a:ext uri="{FF2B5EF4-FFF2-40B4-BE49-F238E27FC236}">
                <a16:creationId xmlns:a16="http://schemas.microsoft.com/office/drawing/2014/main" id="{0E815C58-A02D-44A3-A3D5-F56B434B256B}"/>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Que prouve chaque nœud ?</a:t>
            </a:r>
          </a:p>
        </p:txBody>
      </p:sp>
      <p:sp>
        <p:nvSpPr>
          <p:cNvPr id="2" name="page-10">
            <a:extLst xmlns:a="http://schemas.openxmlformats.org/drawingml/2006/main">
              <a:ext uri="{FF2B5EF4-FFF2-40B4-BE49-F238E27FC236}">
                <a16:creationId xmlns:a16="http://schemas.microsoft.com/office/drawing/2014/main" id="{B364683E-BFCD-4893-9587-ADF51F32FCF5}"/>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10</a:t>
            </a:r>
          </a:p>
        </p:txBody>
      </p:sp>
      <p:sp>
        <p:nvSpPr>
          <p:cNvPr id="3" name="inspect-nodes">
            <a:extLst xmlns:a="http://schemas.openxmlformats.org/drawingml/2006/main">
              <a:ext uri="{FF2B5EF4-FFF2-40B4-BE49-F238E27FC236}">
                <a16:creationId xmlns:a16="http://schemas.microsoft.com/office/drawing/2014/main" id="{E89C90FF-862B-488C-91E0-891A80B9E624}"/>
              </a:ext>
            </a:extLst>
          </p:cNvPr>
          <p:cNvSpPr>
            <a:spLocks xmlns:a="http://schemas.openxmlformats.org/drawingml/2006/main" noGrp="1"/>
          </p:cNvSpPr>
          <p:nvPr/>
        </p:nvSpPr>
        <p:spPr>
          <a:xfrm xmlns:a="http://schemas.openxmlformats.org/drawingml/2006/main">
            <a:off x="666750" y="1447800"/>
            <a:ext cx="5124450" cy="413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Lire le ticket</a:t>
            </a:r>
          </a:p>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Critères extraits de l’issue #1</a:t>
            </a:r>
          </a:p>
          <a:p xmlns:a="http://schemas.openxmlformats.org/drawingml/2006/main">
            <a:r>
              <a:t/>
            </a:r>
          </a:p>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Développer la fonction</a:t>
            </a:r>
          </a:p>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Diff et tests proposés</a:t>
            </a:r>
          </a:p>
          <a:p xmlns:a="http://schemas.openxmlformats.org/drawingml/2006/main">
            <a:r>
              <a:t/>
            </a:r>
          </a:p>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Vérifier la fonction</a:t>
            </a:r>
          </a:p>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12/12 tests, build et verdict pass</a:t>
            </a:r>
          </a:p>
          <a:p xmlns:a="http://schemas.openxmlformats.org/drawingml/2006/main">
            <a:r>
              <a:t/>
            </a:r>
          </a:p>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Brief manager</a:t>
            </a:r>
          </a:p>
          <a:p xmlns:a="http://schemas.openxmlformats.org/drawingml/2006/main">
            <a:pPr algn="l">
              <a:defRPr sz="1725" b="0">
                <a:solidFill>
                  <a:srgbClr val="14202B"/>
                </a:solidFill>
                <a:latin typeface="Arial"/>
                <a:ea typeface="Arial"/>
                <a:cs typeface="Arial"/>
              </a:defRPr>
            </a:pPr>
            <a:r>
              <a:rPr sz="1725" b="0">
                <a:solidFill>
                  <a:srgbClr val="14202B"/>
                </a:solidFill>
                <a:latin typeface="Arial"/>
                <a:ea typeface="Arial"/>
                <a:cs typeface="Arial"/>
              </a:rPr>
              <a:t>Synthèse en français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4821ee79e814142"/>
          <a:stretch xmlns:a="http://schemas.openxmlformats.org/drawingml/2006/main"/>
        </p:blipFill>
        <p:spPr>
          <a:xfrm xmlns:a="http://schemas.openxmlformats.org/drawingml/2006/main">
            <a:off x="6966083" y="1438275"/>
            <a:ext cx="3660509" cy="4276725"/>
          </a:xfrm>
          <a:prstGeom xmlns:a="http://schemas.openxmlformats.org/drawingml/2006/main" prst="rect">
            <a:avLst/>
          </a:prstGeom>
        </p:spPr>
      </p:pic>
      <p:sp>
        <p:nvSpPr>
          <p:cNvPr id="5" name="inspect-surfaces">
            <a:extLst xmlns:a="http://schemas.openxmlformats.org/drawingml/2006/main">
              <a:ext uri="{FF2B5EF4-FFF2-40B4-BE49-F238E27FC236}">
                <a16:creationId xmlns:a16="http://schemas.microsoft.com/office/drawing/2014/main" id="{E090AC1F-5FC9-4925-9025-6C8407C862A0}"/>
              </a:ext>
            </a:extLst>
          </p:cNvPr>
          <p:cNvSpPr>
            <a:spLocks xmlns:a="http://schemas.openxmlformats.org/drawingml/2006/main" noGrp="1"/>
          </p:cNvSpPr>
          <p:nvPr/>
        </p:nvSpPr>
        <p:spPr>
          <a:xfrm xmlns:a="http://schemas.openxmlformats.org/drawingml/2006/main">
            <a:off x="666750" y="6076950"/>
            <a:ext cx="10896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65727B"/>
                </a:solidFill>
                <a:latin typeface="Arial"/>
                <a:ea typeface="Arial"/>
                <a:cs typeface="Arial"/>
              </a:defRPr>
            </a:pPr>
            <a:r>
              <a:rPr sz="1425" b="0">
                <a:solidFill>
                  <a:srgbClr val="65727B"/>
                </a:solidFill>
                <a:latin typeface="Arial"/>
                <a:ea typeface="Arial"/>
                <a:cs typeface="Arial"/>
              </a:rPr>
              <a:t>Dans PDO : Inputs, Outputs, Terminal, Repositories, Diff et YAML</a:t>
            </a:r>
          </a:p>
        </p:txBody>
      </p:sp>
    </p:spTree>
    <p:extLst>
      <p:ext uri="{BB962C8B-B14F-4D97-AF65-F5344CB8AC3E}">
        <p14:creationId xmlns:p14="http://schemas.microsoft.com/office/powerpoint/2010/main" val="1958071080"/>
      </p:ext>
    </p:extLst>
  </p:cSld>
</p:sld>
</file>

<file path=ppt/slides/slide11.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5" name="title-11">
            <a:extLst xmlns:a="http://schemas.openxmlformats.org/drawingml/2006/main">
              <a:ext uri="{FF2B5EF4-FFF2-40B4-BE49-F238E27FC236}">
                <a16:creationId xmlns:a16="http://schemas.microsoft.com/office/drawing/2014/main" id="{C3BAC841-0421-473A-9394-7DD4860CDD1D}"/>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14202B"/>
                </a:solidFill>
                <a:latin typeface="Arial"/>
                <a:ea typeface="Arial"/>
                <a:cs typeface="Arial"/>
              </a:defRPr>
            </a:pPr>
            <a:r>
              <a:rPr sz="2850" b="1">
                <a:solidFill>
                  <a:srgbClr val="14202B"/>
                </a:solidFill>
                <a:latin typeface="Arial"/>
                <a:ea typeface="Arial"/>
                <a:cs typeface="Arial"/>
              </a:rPr>
              <a:t>Résultat métier : la note est-elle prête pour une PR ?</a:t>
            </a:r>
          </a:p>
        </p:txBody>
      </p:sp>
      <p:sp>
        <p:nvSpPr>
          <p:cNvPr id="2" name="page-11">
            <a:extLst xmlns:a="http://schemas.openxmlformats.org/drawingml/2006/main">
              <a:ext uri="{FF2B5EF4-FFF2-40B4-BE49-F238E27FC236}">
                <a16:creationId xmlns:a16="http://schemas.microsoft.com/office/drawing/2014/main" id="{E9297FDE-E13B-439F-BC6D-5B028C384025}"/>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11</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36c6895b21441fd"/>
          <a:stretch xmlns:a="http://schemas.openxmlformats.org/drawingml/2006/main"/>
        </p:blipFill>
        <p:spPr>
          <a:xfrm xmlns:a="http://schemas.openxmlformats.org/drawingml/2006/main">
            <a:off x="1382302" y="1323975"/>
            <a:ext cx="9427396" cy="4857750"/>
          </a:xfrm>
          <a:prstGeom xmlns:a="http://schemas.openxmlformats.org/drawingml/2006/main" prst="rect">
            <a:avLst/>
          </a:prstGeom>
        </p:spPr>
      </p:pic>
      <p:sp>
        <p:nvSpPr>
          <p:cNvPr id="4" name="after-vote">
            <a:extLst xmlns:a="http://schemas.openxmlformats.org/drawingml/2006/main">
              <a:ext uri="{FF2B5EF4-FFF2-40B4-BE49-F238E27FC236}">
                <a16:creationId xmlns:a16="http://schemas.microsoft.com/office/drawing/2014/main" id="{ABF18065-AE0C-43C3-9812-C62DEDCCBC19}"/>
              </a:ext>
            </a:extLst>
          </p:cNvPr>
          <p:cNvSpPr>
            <a:spLocks xmlns:a="http://schemas.openxmlformats.org/drawingml/2006/main" noGrp="1"/>
          </p:cNvSpPr>
          <p:nvPr/>
        </p:nvSpPr>
        <p:spPr>
          <a:xfrm xmlns:a="http://schemas.openxmlformats.org/drawingml/2006/main">
            <a:off x="809625" y="618172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0B604F"/>
                </a:solidFill>
                <a:latin typeface="Arial"/>
                <a:ea typeface="Arial"/>
                <a:cs typeface="Arial"/>
              </a:defRPr>
            </a:pPr>
            <a:r>
              <a:rPr sz="1575" b="1">
                <a:solidFill>
                  <a:srgbClr val="0B604F"/>
                </a:solidFill>
                <a:latin typeface="Arial"/>
                <a:ea typeface="Arial"/>
                <a:cs typeface="Arial"/>
              </a:rPr>
              <a:t>Mini-vote : ouvririez-vous une PR de revue avec ces preuves ?</a:t>
            </a:r>
          </a:p>
        </p:txBody>
      </p:sp>
    </p:spTree>
    <p:extLst>
      <p:ext uri="{BB962C8B-B14F-4D97-AF65-F5344CB8AC3E}">
        <p14:creationId xmlns:p14="http://schemas.microsoft.com/office/powerpoint/2010/main" val="717031038"/>
      </p:ext>
    </p:extLst>
  </p:cSld>
</p:sld>
</file>

<file path=ppt/slides/slide12.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5" name="title-12">
            <a:extLst xmlns:a="http://schemas.openxmlformats.org/drawingml/2006/main">
              <a:ext uri="{FF2B5EF4-FFF2-40B4-BE49-F238E27FC236}">
                <a16:creationId xmlns:a16="http://schemas.microsoft.com/office/drawing/2014/main" id="{04CA8852-E0D0-472B-9C81-17280A7E7B2F}"/>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14202B"/>
                </a:solidFill>
                <a:latin typeface="Arial"/>
                <a:ea typeface="Arial"/>
                <a:cs typeface="Arial"/>
              </a:defRPr>
            </a:pPr>
            <a:r>
              <a:rPr sz="3000" b="1">
                <a:solidFill>
                  <a:srgbClr val="14202B"/>
                </a:solidFill>
                <a:latin typeface="Arial"/>
                <a:ea typeface="Arial"/>
                <a:cs typeface="Arial"/>
              </a:rPr>
              <a:t>PR #2 : une revue humaine reste nécessaire</a:t>
            </a:r>
          </a:p>
        </p:txBody>
      </p:sp>
      <p:sp>
        <p:nvSpPr>
          <p:cNvPr id="2" name="page-12">
            <a:extLst xmlns:a="http://schemas.openxmlformats.org/drawingml/2006/main">
              <a:ext uri="{FF2B5EF4-FFF2-40B4-BE49-F238E27FC236}">
                <a16:creationId xmlns:a16="http://schemas.microsoft.com/office/drawing/2014/main" id="{923EE18C-D0C1-4E8B-9A80-B16CD42152E8}"/>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65727B"/>
                </a:solidFill>
                <a:latin typeface="Arial"/>
                <a:ea typeface="Arial"/>
                <a:cs typeface="Arial"/>
              </a:defRPr>
            </a:pPr>
            <a:r>
              <a:rPr sz="1200" b="0">
                <a:solidFill>
                  <a:srgbClr val="65727B"/>
                </a:solidFill>
                <a:latin typeface="Arial"/>
                <a:ea typeface="Arial"/>
                <a:cs typeface="Arial"/>
              </a:rPr>
              <a:t>12</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387c7b7dd5f489b"/>
          <a:stretch xmlns:a="http://schemas.openxmlformats.org/drawingml/2006/main"/>
        </p:blipFill>
        <p:spPr>
          <a:xfrm xmlns:a="http://schemas.openxmlformats.org/drawingml/2006/main">
            <a:off x="1947333" y="1323975"/>
            <a:ext cx="8297333" cy="4667250"/>
          </a:xfrm>
          <a:prstGeom xmlns:a="http://schemas.openxmlformats.org/drawingml/2006/main" prst="rect">
            <a:avLst/>
          </a:prstGeom>
        </p:spPr>
      </p:pic>
      <p:sp>
        <p:nvSpPr>
          <p:cNvPr id="4" name="responsibility-note">
            <a:extLst xmlns:a="http://schemas.openxmlformats.org/drawingml/2006/main">
              <a:ext uri="{FF2B5EF4-FFF2-40B4-BE49-F238E27FC236}">
                <a16:creationId xmlns:a16="http://schemas.microsoft.com/office/drawing/2014/main" id="{619BEED1-D1A6-46B7-83DD-AC837100573D}"/>
              </a:ext>
            </a:extLst>
          </p:cNvPr>
          <p:cNvSpPr>
            <a:spLocks xmlns:a="http://schemas.openxmlformats.org/drawingml/2006/main" noGrp="1"/>
          </p:cNvSpPr>
          <p:nvPr/>
        </p:nvSpPr>
        <p:spPr>
          <a:xfrm xmlns:a="http://schemas.openxmlformats.org/drawingml/2006/main">
            <a:off x="714375" y="6115050"/>
            <a:ext cx="10639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0">
                <a:solidFill>
                  <a:srgbClr val="0B604F"/>
                </a:solidFill>
                <a:latin typeface="Arial"/>
                <a:ea typeface="Arial"/>
                <a:cs typeface="Arial"/>
              </a:defRPr>
            </a:pPr>
            <a:r>
              <a:rPr sz="1500" b="0">
                <a:solidFill>
                  <a:srgbClr val="0B604F"/>
                </a:solidFill>
                <a:latin typeface="Arial"/>
                <a:ea typeface="Arial"/>
                <a:cs typeface="Arial"/>
                <a:hlinkClick xmlns:r="http://schemas.openxmlformats.org/officeDocument/2006/relationships" r:id="R7b4d32bdd7ca45dd"/>
              </a:rPr>
              <a:t>PR #2 ouverte manuellement le 1er octobre, en brouillon vers develop</a:t>
            </a:r>
          </a:p>
        </p:txBody>
      </p:sp>
    </p:spTree>
    <p:extLst>
      <p:ext uri="{BB962C8B-B14F-4D97-AF65-F5344CB8AC3E}">
        <p14:creationId xmlns:p14="http://schemas.microsoft.com/office/powerpoint/2010/main" val="1778143599"/>
      </p:ext>
    </p:extLst>
  </p:cSld>
</p:sld>
</file>

<file path=ppt/slides/slide13.xml><?xml version="1.0" encoding="utf-8"?>
<p:sld xmlns:p="http://schemas.openxmlformats.org/presentationml/2006/main">
  <p:cSld>
    <p:bg>
      <p:bgPr>
        <a:solidFill xmlns:a="http://schemas.openxmlformats.org/drawingml/2006/main">
          <a:srgbClr val="10212B"/>
        </a:solidFill>
      </p:bgPr>
    </p:bg>
    <p:spTree>
      <p:nvGrpSpPr>
        <p:cNvPr id="1" name=""/>
        <p:cNvGrpSpPr/>
        <p:nvPr/>
      </p:nvGrpSpPr>
      <p:grpSpPr>
        <a:xfrm xmlns:a="http://schemas.openxmlformats.org/drawingml/2006/main"/>
      </p:grpSpPr>
      <p:sp>
        <p:nvSpPr>
          <p:cNvPr id="10" name="title-13">
            <a:extLst xmlns:a="http://schemas.openxmlformats.org/drawingml/2006/main">
              <a:ext uri="{FF2B5EF4-FFF2-40B4-BE49-F238E27FC236}">
                <a16:creationId xmlns:a16="http://schemas.microsoft.com/office/drawing/2014/main" id="{2F76B9AA-7CD8-4AF4-9BA3-F5E753848C3C}"/>
              </a:ext>
            </a:extLst>
          </p:cNvPr>
          <p:cNvSpPr>
            <a:spLocks xmlns:a="http://schemas.openxmlformats.org/drawingml/2006/main" noGrp="1"/>
          </p:cNvSpPr>
          <p:nvPr/>
        </p:nvSpPr>
        <p:spPr>
          <a:xfrm xmlns:a="http://schemas.openxmlformats.org/drawingml/2006/main">
            <a:off x="590550" y="4000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FFFFF"/>
                </a:solidFill>
                <a:latin typeface="Arial"/>
                <a:ea typeface="Arial"/>
                <a:cs typeface="Arial"/>
              </a:defRPr>
            </a:pPr>
            <a:r>
              <a:rPr sz="3000" b="1">
                <a:solidFill>
                  <a:srgbClr val="FFFFFF"/>
                </a:solidFill>
                <a:latin typeface="Arial"/>
                <a:ea typeface="Arial"/>
                <a:cs typeface="Arial"/>
              </a:rPr>
              <a:t>Une issue, un run, une PR à relire</a:t>
            </a:r>
          </a:p>
        </p:txBody>
      </p:sp>
      <p:sp>
        <p:nvSpPr>
          <p:cNvPr id="2" name="page-13">
            <a:extLst xmlns:a="http://schemas.openxmlformats.org/drawingml/2006/main">
              <a:ext uri="{FF2B5EF4-FFF2-40B4-BE49-F238E27FC236}">
                <a16:creationId xmlns:a16="http://schemas.microsoft.com/office/drawing/2014/main" id="{7CB712DE-5158-4810-A9CA-8D7701EC61F4}"/>
              </a:ext>
            </a:extLst>
          </p:cNvPr>
          <p:cNvSpPr>
            <a:spLocks xmlns:a="http://schemas.openxmlformats.org/drawingml/2006/main" noGrp="1"/>
          </p:cNvSpPr>
          <p:nvPr/>
        </p:nvSpPr>
        <p:spPr>
          <a:xfrm xmlns:a="http://schemas.openxmlformats.org/drawingml/2006/main">
            <a:off x="11239500" y="63627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9BBB9"/>
                </a:solidFill>
                <a:latin typeface="Arial"/>
                <a:ea typeface="Arial"/>
                <a:cs typeface="Arial"/>
              </a:defRPr>
            </a:pPr>
            <a:r>
              <a:rPr sz="1200" b="0">
                <a:solidFill>
                  <a:srgbClr val="A9BBB9"/>
                </a:solidFill>
                <a:latin typeface="Arial"/>
                <a:ea typeface="Arial"/>
                <a:cs typeface="Arial"/>
              </a:rPr>
              <a:t>13</a:t>
            </a:r>
          </a:p>
        </p:txBody>
      </p:sp>
      <p:sp>
        <p:nvSpPr>
          <p:cNvPr id="3" name="next-prompt">
            <a:extLst xmlns:a="http://schemas.openxmlformats.org/drawingml/2006/main">
              <a:ext uri="{FF2B5EF4-FFF2-40B4-BE49-F238E27FC236}">
                <a16:creationId xmlns:a16="http://schemas.microsoft.com/office/drawing/2014/main" id="{95A0182E-0F14-4EA3-B446-CF1F997015E6}"/>
              </a:ext>
            </a:extLst>
          </p:cNvPr>
          <p:cNvSpPr>
            <a:spLocks xmlns:a="http://schemas.openxmlformats.org/drawingml/2006/main" noGrp="1"/>
          </p:cNvSpPr>
          <p:nvPr/>
        </p:nvSpPr>
        <p:spPr>
          <a:xfrm xmlns:a="http://schemas.openxmlformats.org/drawingml/2006/main">
            <a:off x="666750" y="1466850"/>
            <a:ext cx="105727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FFFFFF"/>
                </a:solidFill>
                <a:latin typeface="Arial"/>
                <a:ea typeface="Arial"/>
                <a:cs typeface="Arial"/>
              </a:defRPr>
            </a:pPr>
            <a:r>
              <a:rPr sz="2475" b="1">
                <a:solidFill>
                  <a:srgbClr val="FFFFFF"/>
                </a:solidFill>
                <a:latin typeface="Arial"/>
                <a:ea typeface="Arial"/>
                <a:cs typeface="Arial"/>
              </a:rPr>
              <a:t>Pour le prochain essai : une petite demande avec des critères observables.</a:t>
            </a:r>
          </a:p>
        </p:txBody>
      </p:sp>
      <p:sp>
        <p:nvSpPr>
          <p:cNvPr id="4" name="link-repo">
            <a:extLst xmlns:a="http://schemas.openxmlformats.org/drawingml/2006/main">
              <a:ext uri="{FF2B5EF4-FFF2-40B4-BE49-F238E27FC236}">
                <a16:creationId xmlns:a16="http://schemas.microsoft.com/office/drawing/2014/main" id="{4AC14D62-1D26-4BCB-990C-2FFD3BA91311}"/>
              </a:ext>
            </a:extLst>
          </p:cNvPr>
          <p:cNvSpPr>
            <a:spLocks xmlns:a="http://schemas.openxmlformats.org/drawingml/2006/main" noGrp="1"/>
          </p:cNvSpPr>
          <p:nvPr/>
        </p:nvSpPr>
        <p:spPr>
          <a:xfrm xmlns:a="http://schemas.openxmlformats.org/drawingml/2006/main">
            <a:off x="666750" y="32289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E9A93C"/>
                </a:solidFill>
                <a:latin typeface="Arial"/>
                <a:ea typeface="Arial"/>
                <a:cs typeface="Arial"/>
              </a:defRPr>
            </a:pPr>
            <a:r>
              <a:rPr sz="1800" b="0">
                <a:solidFill>
                  <a:srgbClr val="E9A93C"/>
                </a:solidFill>
                <a:latin typeface="Arial"/>
                <a:ea typeface="Arial"/>
                <a:cs typeface="Arial"/>
                <a:hlinkClick xmlns:r="http://schemas.openxmlformats.org/officeDocument/2006/relationships" r:id="R601de6b8e6834aa1"/>
              </a:rPr>
              <a:t>Dépôt : Radar IA Casablanca</a:t>
            </a:r>
          </a:p>
        </p:txBody>
      </p:sp>
      <p:sp>
        <p:nvSpPr>
          <p:cNvPr id="5" name="link-issue">
            <a:extLst xmlns:a="http://schemas.openxmlformats.org/drawingml/2006/main">
              <a:ext uri="{FF2B5EF4-FFF2-40B4-BE49-F238E27FC236}">
                <a16:creationId xmlns:a16="http://schemas.microsoft.com/office/drawing/2014/main" id="{658C1895-0A77-49D4-8334-1D291A498F58}"/>
              </a:ext>
            </a:extLst>
          </p:cNvPr>
          <p:cNvSpPr>
            <a:spLocks xmlns:a="http://schemas.openxmlformats.org/drawingml/2006/main" noGrp="1"/>
          </p:cNvSpPr>
          <p:nvPr/>
        </p:nvSpPr>
        <p:spPr>
          <a:xfrm xmlns:a="http://schemas.openxmlformats.org/drawingml/2006/main">
            <a:off x="666750" y="37052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E9A93C"/>
                </a:solidFill>
                <a:latin typeface="Arial"/>
                <a:ea typeface="Arial"/>
                <a:cs typeface="Arial"/>
              </a:defRPr>
            </a:pPr>
            <a:r>
              <a:rPr sz="1800" b="0">
                <a:solidFill>
                  <a:srgbClr val="E9A93C"/>
                </a:solidFill>
                <a:latin typeface="Arial"/>
                <a:ea typeface="Arial"/>
                <a:cs typeface="Arial"/>
                <a:hlinkClick xmlns:r="http://schemas.openxmlformats.org/officeDocument/2006/relationships" r:id="R8aa69c988f85427b"/>
              </a:rPr>
              <a:t>Issue #1</a:t>
            </a:r>
          </a:p>
        </p:txBody>
      </p:sp>
      <p:sp>
        <p:nvSpPr>
          <p:cNvPr id="6" name="link-pr">
            <a:extLst xmlns:a="http://schemas.openxmlformats.org/drawingml/2006/main">
              <a:ext uri="{FF2B5EF4-FFF2-40B4-BE49-F238E27FC236}">
                <a16:creationId xmlns:a16="http://schemas.microsoft.com/office/drawing/2014/main" id="{F58B6C99-3810-4C31-8507-D48BD70A20BD}"/>
              </a:ext>
            </a:extLst>
          </p:cNvPr>
          <p:cNvSpPr>
            <a:spLocks xmlns:a="http://schemas.openxmlformats.org/drawingml/2006/main" noGrp="1"/>
          </p:cNvSpPr>
          <p:nvPr/>
        </p:nvSpPr>
        <p:spPr>
          <a:xfrm xmlns:a="http://schemas.openxmlformats.org/drawingml/2006/main">
            <a:off x="666750" y="41814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E9A93C"/>
                </a:solidFill>
                <a:latin typeface="Arial"/>
                <a:ea typeface="Arial"/>
                <a:cs typeface="Arial"/>
              </a:defRPr>
            </a:pPr>
            <a:r>
              <a:rPr sz="1800" b="0">
                <a:solidFill>
                  <a:srgbClr val="E9A93C"/>
                </a:solidFill>
                <a:latin typeface="Arial"/>
                <a:ea typeface="Arial"/>
                <a:cs typeface="Arial"/>
                <a:hlinkClick xmlns:r="http://schemas.openxmlformats.org/officeDocument/2006/relationships" r:id="Rda803b1783234751"/>
              </a:rPr>
              <a:t>PR #2 : revue en brouillon</a:t>
            </a:r>
          </a:p>
        </p:txBody>
      </p:sp>
      <p:sp>
        <p:nvSpPr>
          <p:cNvPr id="7" name="link-video-product">
            <a:extLst xmlns:a="http://schemas.openxmlformats.org/drawingml/2006/main">
              <a:ext uri="{FF2B5EF4-FFF2-40B4-BE49-F238E27FC236}">
                <a16:creationId xmlns:a16="http://schemas.microsoft.com/office/drawing/2014/main" id="{F17F935A-0C67-4249-AABF-C17FE5C47A88}"/>
              </a:ext>
            </a:extLst>
          </p:cNvPr>
          <p:cNvSpPr>
            <a:spLocks xmlns:a="http://schemas.openxmlformats.org/drawingml/2006/main" noGrp="1"/>
          </p:cNvSpPr>
          <p:nvPr/>
        </p:nvSpPr>
        <p:spPr>
          <a:xfrm xmlns:a="http://schemas.openxmlformats.org/drawingml/2006/main">
            <a:off x="666750" y="46577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E9A93C"/>
                </a:solidFill>
                <a:latin typeface="Arial"/>
                <a:ea typeface="Arial"/>
                <a:cs typeface="Arial"/>
              </a:defRPr>
            </a:pPr>
            <a:r>
              <a:rPr sz="1800" b="0">
                <a:solidFill>
                  <a:srgbClr val="E9A93C"/>
                </a:solidFill>
                <a:latin typeface="Arial"/>
                <a:ea typeface="Arial"/>
                <a:cs typeface="Arial"/>
                <a:hlinkClick xmlns:r="http://schemas.openxmlformats.org/officeDocument/2006/relationships" r:id="R7fdd66fdd78843c3"/>
              </a:rPr>
              <a:t>MP4 : produit et issue GitHub</a:t>
            </a:r>
          </a:p>
        </p:txBody>
      </p:sp>
      <p:sp>
        <p:nvSpPr>
          <p:cNvPr id="8" name="link-video-pdo">
            <a:extLst xmlns:a="http://schemas.openxmlformats.org/drawingml/2006/main">
              <a:ext uri="{FF2B5EF4-FFF2-40B4-BE49-F238E27FC236}">
                <a16:creationId xmlns:a16="http://schemas.microsoft.com/office/drawing/2014/main" id="{68794620-7DB1-4984-A921-FDBF93EB5991}"/>
              </a:ext>
            </a:extLst>
          </p:cNvPr>
          <p:cNvSpPr>
            <a:spLocks xmlns:a="http://schemas.openxmlformats.org/drawingml/2006/main" noGrp="1"/>
          </p:cNvSpPr>
          <p:nvPr/>
        </p:nvSpPr>
        <p:spPr>
          <a:xfrm xmlns:a="http://schemas.openxmlformats.org/drawingml/2006/main">
            <a:off x="666750" y="51339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E9A93C"/>
                </a:solidFill>
                <a:latin typeface="Arial"/>
                <a:ea typeface="Arial"/>
                <a:cs typeface="Arial"/>
              </a:defRPr>
            </a:pPr>
            <a:r>
              <a:rPr sz="1800" b="0">
                <a:solidFill>
                  <a:srgbClr val="E9A93C"/>
                </a:solidFill>
                <a:latin typeface="Arial"/>
                <a:ea typeface="Arial"/>
                <a:cs typeface="Arial"/>
                <a:hlinkClick xmlns:r="http://schemas.openxmlformats.org/officeDocument/2006/relationships" r:id="R68155a04dc844d31"/>
              </a:rPr>
              <a:t>MP4 : pipeline et inspection PDO</a:t>
            </a:r>
          </a:p>
        </p:txBody>
      </p:sp>
      <p:sp>
        <p:nvSpPr>
          <p:cNvPr id="9" name="link-pdf">
            <a:extLst xmlns:a="http://schemas.openxmlformats.org/drawingml/2006/main">
              <a:ext uri="{FF2B5EF4-FFF2-40B4-BE49-F238E27FC236}">
                <a16:creationId xmlns:a16="http://schemas.microsoft.com/office/drawing/2014/main" id="{F664D617-82D4-4AF6-800D-5A6541AE0606}"/>
              </a:ext>
            </a:extLst>
          </p:cNvPr>
          <p:cNvSpPr>
            <a:spLocks xmlns:a="http://schemas.openxmlformats.org/drawingml/2006/main" noGrp="1"/>
          </p:cNvSpPr>
          <p:nvPr/>
        </p:nvSpPr>
        <p:spPr>
          <a:xfrm xmlns:a="http://schemas.openxmlformats.org/drawingml/2006/main">
            <a:off x="666750" y="56102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E9A93C"/>
                </a:solidFill>
                <a:latin typeface="Arial"/>
                <a:ea typeface="Arial"/>
                <a:cs typeface="Arial"/>
              </a:defRPr>
            </a:pPr>
            <a:r>
              <a:rPr sz="1650" b="0">
                <a:solidFill>
                  <a:srgbClr val="E9A93C"/>
                </a:solidFill>
                <a:latin typeface="Arial"/>
                <a:ea typeface="Arial"/>
                <a:cs typeface="Arial"/>
                <a:hlinkClick xmlns:r="http://schemas.openxmlformats.org/officeDocument/2006/relationships" r:id="Rd3ecb936dac14f51"/>
              </a:rPr>
              <a:t>Exemple : note d’arbitrage PDF (A4)</a:t>
            </a:r>
          </a:p>
        </p:txBody>
      </p:sp>
    </p:spTree>
    <p:extLst>
      <p:ext uri="{BB962C8B-B14F-4D97-AF65-F5344CB8AC3E}">
        <p14:creationId xmlns:p14="http://schemas.microsoft.com/office/powerpoint/2010/main" val="8815897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2026-10-01T19:24:27.8410000Z</dcterms:created>
  <dcterms:modified xsi:type="dcterms:W3CDTF">2026-10-01T19:24:27.8410000Z</dcterms:modified>
</coreProperties>
</file>